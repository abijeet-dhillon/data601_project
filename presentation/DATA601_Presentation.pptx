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d05Cfqzh5fNqcjaletaiT/T9t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>
      <p:cViewPr varScale="1">
        <p:scale>
          <a:sx n="106" d="100"/>
          <a:sy n="106" d="100"/>
        </p:scale>
        <p:origin x="81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d99ccb46f147202_1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4d99ccb46f147202_1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Hi everyone. Our project aims to forecast the next year GDP per capita of a country.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3a7b705bf8cfe3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3a7b705bf8cfe3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We used World Bank data for 193 countries from 2006 to 2021, using indicators related to the economy, energy, and infrastructure.</a:t>
            </a:r>
            <a:endParaRPr>
              <a:solidFill>
                <a:srgbClr val="16264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3a7b705bf8cfe3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63a7b705bf8cfe3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Initially, we removed countries with missing GDP information, and filled the remaining missing values.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63a7b705bf8cfe3c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63a7b705bf8cfe3c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Our EDA showed that GDP per capita distribution is strongly right-skewed.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3a7b705bf8cfe3c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63a7b705bf8cfe3c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Since GDP per capita is a continuous number, this is a supervised regression problem. We compared four models, Linear Regression, Decision Tree, Random Forest, and XGBoost, and compared them using MAE, RMSE, and R^2.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d99ccb46f147202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4d99ccb46f147202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Next, we prepared our dataset to fit the model. 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 started by creating the forecast target and splitting the data chronologically into training, validation, and test sets.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We also encoded country information and handled missing values while preventing data leakage.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For feature selection, we compared different feature sets. The </a:t>
            </a:r>
            <a:r>
              <a:rPr lang="en-US" sz="1200" b="1">
                <a:solidFill>
                  <a:schemeClr val="dk1"/>
                </a:solidFill>
              </a:rPr>
              <a:t>top 10 features gave the lowest validation MAE</a:t>
            </a:r>
            <a:r>
              <a:rPr lang="en-US" sz="1200">
                <a:solidFill>
                  <a:schemeClr val="dk1"/>
                </a:solidFill>
              </a:rPr>
              <a:t>, and after adding useful missing indicators, we reduced the model from </a:t>
            </a:r>
            <a:r>
              <a:rPr lang="en-US" sz="1200" b="1">
                <a:solidFill>
                  <a:schemeClr val="dk1"/>
                </a:solidFill>
              </a:rPr>
              <a:t>44 variables to 17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4d99ccb46f147202_1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h4d99ccb46f147202_1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Then, we trained and compared four baseline models. </a:t>
            </a:r>
            <a:r>
              <a:rPr lang="en-US" b="1">
                <a:solidFill>
                  <a:schemeClr val="dk1"/>
                </a:solidFill>
              </a:rPr>
              <a:t>Random Forest and XGBoost performed best</a:t>
            </a:r>
            <a:r>
              <a:rPr lang="en-US">
                <a:solidFill>
                  <a:schemeClr val="dk1"/>
                </a:solidFill>
              </a:rPr>
              <a:t>, so we selected them for tuning.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Tuning improved XGBoost, while Random Forest stayed about the same.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since GDP is strongly right skewed,  we use a log to transfrom GDP target. It improved XGBoost, so </a:t>
            </a:r>
            <a:r>
              <a:rPr lang="en-US" b="1">
                <a:solidFill>
                  <a:schemeClr val="dk1"/>
                </a:solidFill>
              </a:rPr>
              <a:t>XGBoost with log GDP is our final model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63a7b705bf8cfe3c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63a7b705bf8cfe3c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</a:rPr>
              <a:t>Our final model is XGBoost trained on log GDP, using the tuned settings from cross-validation. We trained it on 2006 to 2017 and tested it once on 2018 to 2020. On the test set, R² is 0.978, so the model still explains almost all the variation. But the average error rises from about $426 in training to $1,476 in testing, which is 3.5 times higher, so generalization is weaker. We also compared against a naive benchmark that just predicts next year's GDP equals this year's. The benchmark has a slightly lower MAE, so our model is only about as good as that simple baseline.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63a7b705bf8cfe3c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h63a7b705bf8cfe3c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gap comes mainly from sudden economic changes. Error is highest when predicting 2020, at $2,350, versus $520 for 2019. The biggest miss is Macao, where GDP fell 55 percent. So the model works in stable years but struggles with shocks like COVID.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h4d99ccb46f1472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h4d99ccb46f1472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4d99ccb46f147202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h4d99ccb46f147202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63a7b705bf8cfe3c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h63a7b705bf8cfe3c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d99ccb46f147202_1_471"/>
          <p:cNvSpPr/>
          <p:nvPr/>
        </p:nvSpPr>
        <p:spPr>
          <a:xfrm>
            <a:off x="0" y="0"/>
            <a:ext cx="109800" cy="6858000"/>
          </a:xfrm>
          <a:prstGeom prst="rect">
            <a:avLst/>
          </a:prstGeom>
          <a:solidFill>
            <a:srgbClr val="6C48C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4d99ccb46f147202_1_471"/>
          <p:cNvSpPr/>
          <p:nvPr/>
        </p:nvSpPr>
        <p:spPr>
          <a:xfrm>
            <a:off x="10469880" y="-658368"/>
            <a:ext cx="2057400" cy="2057400"/>
          </a:xfrm>
          <a:prstGeom prst="ellipse">
            <a:avLst/>
          </a:prstGeom>
          <a:solidFill>
            <a:srgbClr val="6C48C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h4d99ccb46f147202_1_471"/>
          <p:cNvSpPr/>
          <p:nvPr/>
        </p:nvSpPr>
        <p:spPr>
          <a:xfrm>
            <a:off x="11018520" y="164592"/>
            <a:ext cx="960000" cy="960000"/>
          </a:xfrm>
          <a:prstGeom prst="ellipse">
            <a:avLst/>
          </a:prstGeom>
          <a:solidFill>
            <a:srgbClr val="4865E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h4d99ccb46f147202_1_471"/>
          <p:cNvSpPr/>
          <p:nvPr/>
        </p:nvSpPr>
        <p:spPr>
          <a:xfrm>
            <a:off x="9921240" y="6016752"/>
            <a:ext cx="2651700" cy="1051500"/>
          </a:xfrm>
          <a:prstGeom prst="roundRect">
            <a:avLst>
              <a:gd name="adj" fmla="val 16667"/>
            </a:avLst>
          </a:prstGeom>
          <a:solidFill>
            <a:srgbClr val="F0ECF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h4d99ccb46f147202_1_471" descr="ucalgary_logo_intro_clea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802" y="164602"/>
            <a:ext cx="1853750" cy="12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h4d99ccb46f147202_1_471"/>
          <p:cNvSpPr txBox="1"/>
          <p:nvPr/>
        </p:nvSpPr>
        <p:spPr>
          <a:xfrm>
            <a:off x="621802" y="1473013"/>
            <a:ext cx="481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C48C2"/>
                </a:solidFill>
                <a:latin typeface="Arial"/>
                <a:ea typeface="Arial"/>
                <a:cs typeface="Arial"/>
                <a:sym typeface="Arial"/>
              </a:rPr>
              <a:t>DATA 601 PROJECT</a:t>
            </a:r>
            <a:endParaRPr sz="2700"/>
          </a:p>
        </p:txBody>
      </p:sp>
      <p:sp>
        <p:nvSpPr>
          <p:cNvPr id="90" name="Google Shape;90;h4d99ccb46f147202_1_471"/>
          <p:cNvSpPr/>
          <p:nvPr/>
        </p:nvSpPr>
        <p:spPr>
          <a:xfrm>
            <a:off x="658371" y="1920253"/>
            <a:ext cx="2981400" cy="73200"/>
          </a:xfrm>
          <a:prstGeom prst="rect">
            <a:avLst/>
          </a:prstGeom>
          <a:solidFill>
            <a:srgbClr val="6C48C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h4d99ccb46f147202_1_471"/>
          <p:cNvSpPr txBox="1"/>
          <p:nvPr/>
        </p:nvSpPr>
        <p:spPr>
          <a:xfrm>
            <a:off x="621800" y="2149675"/>
            <a:ext cx="99864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112341"/>
                </a:solidFill>
                <a:latin typeface="Arial"/>
                <a:ea typeface="Arial"/>
                <a:cs typeface="Arial"/>
                <a:sym typeface="Arial"/>
              </a:rPr>
              <a:t>Can We Predict</a:t>
            </a:r>
            <a:br>
              <a:rPr lang="en-US" sz="4400" b="1" i="0" u="none" strike="noStrike" cap="none">
                <a:solidFill>
                  <a:srgbClr val="11234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 b="1" i="0" u="none" strike="noStrike" cap="none">
                <a:solidFill>
                  <a:srgbClr val="112341"/>
                </a:solidFill>
                <a:latin typeface="Arial"/>
                <a:ea typeface="Arial"/>
                <a:cs typeface="Arial"/>
                <a:sym typeface="Arial"/>
              </a:rPr>
              <a:t>Tomorrow’s Economy?</a:t>
            </a:r>
            <a:endParaRPr sz="2700"/>
          </a:p>
        </p:txBody>
      </p:sp>
      <p:sp>
        <p:nvSpPr>
          <p:cNvPr id="92" name="Google Shape;92;h4d99ccb46f147202_1_471"/>
          <p:cNvSpPr txBox="1"/>
          <p:nvPr/>
        </p:nvSpPr>
        <p:spPr>
          <a:xfrm>
            <a:off x="669073" y="3521254"/>
            <a:ext cx="9100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1" u="none" strike="noStrike" cap="none">
                <a:solidFill>
                  <a:srgbClr val="4C5262"/>
                </a:solidFill>
                <a:latin typeface="Arial"/>
                <a:ea typeface="Arial"/>
                <a:cs typeface="Arial"/>
                <a:sym typeface="Arial"/>
              </a:rPr>
              <a:t>Forecasting Next-Year GDP Per Capita</a:t>
            </a:r>
            <a:br>
              <a:rPr lang="en-US" sz="3000" b="0" i="1" u="none" strike="noStrike" cap="none">
                <a:solidFill>
                  <a:srgbClr val="4C526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1" u="none" strike="noStrike" cap="none">
                <a:solidFill>
                  <a:srgbClr val="4C5262"/>
                </a:solidFill>
                <a:latin typeface="Arial"/>
                <a:ea typeface="Arial"/>
                <a:cs typeface="Arial"/>
                <a:sym typeface="Arial"/>
              </a:rPr>
              <a:t>with Machine Learning</a:t>
            </a:r>
            <a:endParaRPr sz="2700"/>
          </a:p>
        </p:txBody>
      </p:sp>
      <p:sp>
        <p:nvSpPr>
          <p:cNvPr id="93" name="Google Shape;93;h4d99ccb46f147202_1_471"/>
          <p:cNvSpPr txBox="1"/>
          <p:nvPr/>
        </p:nvSpPr>
        <p:spPr>
          <a:xfrm>
            <a:off x="645876" y="5130598"/>
            <a:ext cx="92685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80" b="1" i="1" u="none" strike="noStrike" cap="none">
                <a:solidFill>
                  <a:srgbClr val="112341"/>
                </a:solidFill>
                <a:latin typeface="Arial"/>
                <a:ea typeface="Arial"/>
                <a:cs typeface="Arial"/>
                <a:sym typeface="Arial"/>
              </a:rPr>
              <a:t>Abijeet Dhillon, Noor Fatima, Tam Nguyen</a:t>
            </a:r>
            <a:endParaRPr sz="2700"/>
          </a:p>
        </p:txBody>
      </p:sp>
      <p:sp>
        <p:nvSpPr>
          <p:cNvPr id="94" name="Google Shape;94;h4d99ccb46f147202_1_471"/>
          <p:cNvSpPr txBox="1"/>
          <p:nvPr/>
        </p:nvSpPr>
        <p:spPr>
          <a:xfrm>
            <a:off x="645876" y="5496357"/>
            <a:ext cx="9268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1" u="none" strike="noStrike" cap="none">
                <a:solidFill>
                  <a:srgbClr val="4C5262"/>
                </a:solidFill>
                <a:latin typeface="Arial"/>
                <a:ea typeface="Arial"/>
                <a:cs typeface="Arial"/>
                <a:sym typeface="Arial"/>
              </a:rPr>
              <a:t>Date: Oct. 5th, 2026</a:t>
            </a:r>
            <a:endParaRPr sz="2700"/>
          </a:p>
        </p:txBody>
      </p:sp>
      <p:sp>
        <p:nvSpPr>
          <p:cNvPr id="95" name="Google Shape;95;h4d99ccb46f147202_1_471"/>
          <p:cNvSpPr/>
          <p:nvPr/>
        </p:nvSpPr>
        <p:spPr>
          <a:xfrm>
            <a:off x="685800" y="6080760"/>
            <a:ext cx="73200" cy="73200"/>
          </a:xfrm>
          <a:prstGeom prst="ellipse">
            <a:avLst/>
          </a:prstGeom>
          <a:solidFill>
            <a:srgbClr val="6C48C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h4d99ccb46f147202_1_471"/>
          <p:cNvSpPr/>
          <p:nvPr/>
        </p:nvSpPr>
        <p:spPr>
          <a:xfrm>
            <a:off x="959294" y="6080750"/>
            <a:ext cx="96300" cy="73200"/>
          </a:xfrm>
          <a:prstGeom prst="ellipse">
            <a:avLst/>
          </a:prstGeom>
          <a:solidFill>
            <a:srgbClr val="8F74DC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h4d99ccb46f147202_1_471"/>
          <p:cNvSpPr/>
          <p:nvPr/>
        </p:nvSpPr>
        <p:spPr>
          <a:xfrm>
            <a:off x="1224101" y="6080750"/>
            <a:ext cx="96300" cy="73200"/>
          </a:xfrm>
          <a:prstGeom prst="ellipse">
            <a:avLst/>
          </a:prstGeom>
          <a:solidFill>
            <a:srgbClr val="4865E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63a7b705bf8cfe3c_0_54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06400" algn="l" rtl="0">
              <a:spcBef>
                <a:spcPts val="0"/>
              </a:spcBef>
              <a:spcAft>
                <a:spcPts val="0"/>
              </a:spcAft>
              <a:buClr>
                <a:srgbClr val="162641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About the Data</a:t>
            </a:r>
            <a:endParaRPr/>
          </a:p>
        </p:txBody>
      </p:sp>
      <p:sp>
        <p:nvSpPr>
          <p:cNvPr id="103" name="Google Shape;103;h63a7b705bf8cfe3c_0_54"/>
          <p:cNvSpPr txBox="1"/>
          <p:nvPr/>
        </p:nvSpPr>
        <p:spPr>
          <a:xfrm>
            <a:off x="621792" y="86868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Data Source: </a:t>
            </a:r>
            <a:r>
              <a:rPr lang="en-US" sz="13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World Bank — World Development Indicators (WDI)</a:t>
            </a:r>
            <a:endParaRPr/>
          </a:p>
        </p:txBody>
      </p:sp>
      <p:sp>
        <p:nvSpPr>
          <p:cNvPr id="104" name="Google Shape;104;h63a7b705bf8cfe3c_0_54"/>
          <p:cNvSpPr/>
          <p:nvPr/>
        </p:nvSpPr>
        <p:spPr>
          <a:xfrm>
            <a:off x="731525" y="1241975"/>
            <a:ext cx="24231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h63a7b705bf8cfe3c_0_54"/>
          <p:cNvSpPr txBox="1"/>
          <p:nvPr/>
        </p:nvSpPr>
        <p:spPr>
          <a:xfrm>
            <a:off x="822965" y="1241963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193</a:t>
            </a:r>
            <a:endParaRPr/>
          </a:p>
        </p:txBody>
      </p:sp>
      <p:sp>
        <p:nvSpPr>
          <p:cNvPr id="106" name="Google Shape;106;h63a7b705bf8cfe3c_0_54"/>
          <p:cNvSpPr txBox="1"/>
          <p:nvPr/>
        </p:nvSpPr>
        <p:spPr>
          <a:xfrm>
            <a:off x="822965" y="1653443"/>
            <a:ext cx="2240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/>
          </a:p>
        </p:txBody>
      </p:sp>
      <p:sp>
        <p:nvSpPr>
          <p:cNvPr id="107" name="Google Shape;107;h63a7b705bf8cfe3c_0_54"/>
          <p:cNvSpPr/>
          <p:nvPr/>
        </p:nvSpPr>
        <p:spPr>
          <a:xfrm>
            <a:off x="3566175" y="1241975"/>
            <a:ext cx="24231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h63a7b705bf8cfe3c_0_54"/>
          <p:cNvSpPr txBox="1"/>
          <p:nvPr/>
        </p:nvSpPr>
        <p:spPr>
          <a:xfrm>
            <a:off x="3657605" y="1241963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2006–2021</a:t>
            </a:r>
            <a:endParaRPr/>
          </a:p>
        </p:txBody>
      </p:sp>
      <p:sp>
        <p:nvSpPr>
          <p:cNvPr id="109" name="Google Shape;109;h63a7b705bf8cfe3c_0_54"/>
          <p:cNvSpPr txBox="1"/>
          <p:nvPr/>
        </p:nvSpPr>
        <p:spPr>
          <a:xfrm>
            <a:off x="3657605" y="1653443"/>
            <a:ext cx="2240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Analysis period</a:t>
            </a:r>
            <a:endParaRPr/>
          </a:p>
        </p:txBody>
      </p:sp>
      <p:sp>
        <p:nvSpPr>
          <p:cNvPr id="110" name="Google Shape;110;h63a7b705bf8cfe3c_0_54"/>
          <p:cNvSpPr/>
          <p:nvPr/>
        </p:nvSpPr>
        <p:spPr>
          <a:xfrm>
            <a:off x="6400800" y="1186600"/>
            <a:ext cx="24231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h63a7b705bf8cfe3c_0_54"/>
          <p:cNvSpPr txBox="1"/>
          <p:nvPr/>
        </p:nvSpPr>
        <p:spPr>
          <a:xfrm>
            <a:off x="6492245" y="1241963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12" name="Google Shape;112;h63a7b705bf8cfe3c_0_54"/>
          <p:cNvSpPr txBox="1"/>
          <p:nvPr/>
        </p:nvSpPr>
        <p:spPr>
          <a:xfrm>
            <a:off x="6492245" y="1653443"/>
            <a:ext cx="2240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Selected indicators</a:t>
            </a:r>
            <a:endParaRPr/>
          </a:p>
        </p:txBody>
      </p:sp>
      <p:sp>
        <p:nvSpPr>
          <p:cNvPr id="113" name="Google Shape;113;h63a7b705bf8cfe3c_0_54"/>
          <p:cNvSpPr/>
          <p:nvPr/>
        </p:nvSpPr>
        <p:spPr>
          <a:xfrm>
            <a:off x="9235450" y="1241975"/>
            <a:ext cx="24231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h63a7b705bf8cfe3c_0_54"/>
          <p:cNvSpPr txBox="1"/>
          <p:nvPr/>
        </p:nvSpPr>
        <p:spPr>
          <a:xfrm>
            <a:off x="9326885" y="1241963"/>
            <a:ext cx="2240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GDPₜ₊₁</a:t>
            </a:r>
            <a:endParaRPr/>
          </a:p>
        </p:txBody>
      </p:sp>
      <p:sp>
        <p:nvSpPr>
          <p:cNvPr id="115" name="Google Shape;115;h63a7b705bf8cfe3c_0_54"/>
          <p:cNvSpPr txBox="1"/>
          <p:nvPr/>
        </p:nvSpPr>
        <p:spPr>
          <a:xfrm>
            <a:off x="9326885" y="1653443"/>
            <a:ext cx="2240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Prediction target</a:t>
            </a:r>
            <a:endParaRPr/>
          </a:p>
        </p:txBody>
      </p:sp>
      <p:sp>
        <p:nvSpPr>
          <p:cNvPr id="116" name="Google Shape;116;h63a7b705bf8cfe3c_0_54"/>
          <p:cNvSpPr txBox="1"/>
          <p:nvPr/>
        </p:nvSpPr>
        <p:spPr>
          <a:xfrm>
            <a:off x="609400" y="4091135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Indicator Groups</a:t>
            </a:r>
            <a:endParaRPr/>
          </a:p>
        </p:txBody>
      </p:sp>
      <p:sp>
        <p:nvSpPr>
          <p:cNvPr id="117" name="Google Shape;117;h63a7b705bf8cfe3c_0_54"/>
          <p:cNvSpPr/>
          <p:nvPr/>
        </p:nvSpPr>
        <p:spPr>
          <a:xfrm>
            <a:off x="594350" y="4551510"/>
            <a:ext cx="51207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E0E4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63a7b705bf8cfe3c_0_54"/>
          <p:cNvSpPr txBox="1"/>
          <p:nvPr/>
        </p:nvSpPr>
        <p:spPr>
          <a:xfrm>
            <a:off x="758942" y="4661238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/>
          </a:p>
        </p:txBody>
      </p:sp>
      <p:sp>
        <p:nvSpPr>
          <p:cNvPr id="119" name="Google Shape;119;h63a7b705bf8cfe3c_0_54"/>
          <p:cNvSpPr txBox="1"/>
          <p:nvPr/>
        </p:nvSpPr>
        <p:spPr>
          <a:xfrm>
            <a:off x="2560310" y="4661238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GDP • inflation • trade • capital formation</a:t>
            </a:r>
            <a:endParaRPr/>
          </a:p>
        </p:txBody>
      </p:sp>
      <p:sp>
        <p:nvSpPr>
          <p:cNvPr id="120" name="Google Shape;120;h63a7b705bf8cfe3c_0_54"/>
          <p:cNvSpPr/>
          <p:nvPr/>
        </p:nvSpPr>
        <p:spPr>
          <a:xfrm>
            <a:off x="6172190" y="4551510"/>
            <a:ext cx="51207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E0E4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h63a7b705bf8cfe3c_0_54"/>
          <p:cNvSpPr txBox="1"/>
          <p:nvPr/>
        </p:nvSpPr>
        <p:spPr>
          <a:xfrm>
            <a:off x="6336781" y="4661238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/>
          </a:p>
        </p:txBody>
      </p:sp>
      <p:sp>
        <p:nvSpPr>
          <p:cNvPr id="122" name="Google Shape;122;h63a7b705bf8cfe3c_0_54"/>
          <p:cNvSpPr txBox="1"/>
          <p:nvPr/>
        </p:nvSpPr>
        <p:spPr>
          <a:xfrm>
            <a:off x="8138150" y="4661238"/>
            <a:ext cx="2926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energy use • electricity access • energy intensity</a:t>
            </a:r>
            <a:endParaRPr/>
          </a:p>
        </p:txBody>
      </p:sp>
      <p:sp>
        <p:nvSpPr>
          <p:cNvPr id="123" name="Google Shape;123;h63a7b705bf8cfe3c_0_54"/>
          <p:cNvSpPr/>
          <p:nvPr/>
        </p:nvSpPr>
        <p:spPr>
          <a:xfrm>
            <a:off x="594350" y="5465910"/>
            <a:ext cx="51207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E0E4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63a7b705bf8cfe3c_0_54"/>
          <p:cNvSpPr txBox="1"/>
          <p:nvPr/>
        </p:nvSpPr>
        <p:spPr>
          <a:xfrm>
            <a:off x="758942" y="5575638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Industry &amp; Infrastructure</a:t>
            </a:r>
            <a:endParaRPr/>
          </a:p>
        </p:txBody>
      </p:sp>
      <p:sp>
        <p:nvSpPr>
          <p:cNvPr id="125" name="Google Shape;125;h63a7b705bf8cfe3c_0_54"/>
          <p:cNvSpPr txBox="1"/>
          <p:nvPr/>
        </p:nvSpPr>
        <p:spPr>
          <a:xfrm>
            <a:off x="2560310" y="5575638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manufacturing • electricity measures</a:t>
            </a:r>
            <a:endParaRPr/>
          </a:p>
        </p:txBody>
      </p:sp>
      <p:sp>
        <p:nvSpPr>
          <p:cNvPr id="126" name="Google Shape;126;h63a7b705bf8cfe3c_0_54"/>
          <p:cNvSpPr/>
          <p:nvPr/>
        </p:nvSpPr>
        <p:spPr>
          <a:xfrm>
            <a:off x="6172190" y="5465910"/>
            <a:ext cx="5120700" cy="7131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E0E4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h63a7b705bf8cfe3c_0_54"/>
          <p:cNvSpPr txBox="1"/>
          <p:nvPr/>
        </p:nvSpPr>
        <p:spPr>
          <a:xfrm>
            <a:off x="6336781" y="5575638"/>
            <a:ext cx="1828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Development &amp; Environment</a:t>
            </a:r>
            <a:endParaRPr/>
          </a:p>
        </p:txBody>
      </p:sp>
      <p:sp>
        <p:nvSpPr>
          <p:cNvPr id="128" name="Google Shape;128;h63a7b705bf8cfe3c_0_54"/>
          <p:cNvSpPr txBox="1"/>
          <p:nvPr/>
        </p:nvSpPr>
        <p:spPr>
          <a:xfrm>
            <a:off x="8138150" y="5575638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urbanization • CO₂ • country characteristics</a:t>
            </a:r>
            <a:endParaRPr/>
          </a:p>
        </p:txBody>
      </p:sp>
      <p:sp>
        <p:nvSpPr>
          <p:cNvPr id="129" name="Google Shape;129;h63a7b705bf8cfe3c_0_54"/>
          <p:cNvSpPr txBox="1"/>
          <p:nvPr/>
        </p:nvSpPr>
        <p:spPr>
          <a:xfrm>
            <a:off x="6336790" y="6380302"/>
            <a:ext cx="54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h63a7b705bf8cfe3c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316" y="2210987"/>
            <a:ext cx="9380848" cy="180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3a7b705bf8cfe3c_0_91"/>
          <p:cNvSpPr txBox="1"/>
          <p:nvPr/>
        </p:nvSpPr>
        <p:spPr>
          <a:xfrm>
            <a:off x="594360" y="292608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136" name="Google Shape;136;h63a7b705bf8cfe3c_0_91"/>
          <p:cNvSpPr txBox="1"/>
          <p:nvPr/>
        </p:nvSpPr>
        <p:spPr>
          <a:xfrm>
            <a:off x="621792" y="82296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Preparing a consistent country-year dataset before EDA and machine learning</a:t>
            </a:r>
            <a:endParaRPr/>
          </a:p>
        </p:txBody>
      </p:sp>
      <p:sp>
        <p:nvSpPr>
          <p:cNvPr id="137" name="Google Shape;137;h63a7b705bf8cfe3c_0_91"/>
          <p:cNvSpPr/>
          <p:nvPr/>
        </p:nvSpPr>
        <p:spPr>
          <a:xfrm>
            <a:off x="438912" y="1280160"/>
            <a:ext cx="2469000" cy="21945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63a7b705bf8cfe3c_0_91"/>
          <p:cNvSpPr txBox="1"/>
          <p:nvPr/>
        </p:nvSpPr>
        <p:spPr>
          <a:xfrm>
            <a:off x="1335024" y="1435608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" name="Google Shape;139;h63a7b705bf8cfe3c_0_91"/>
          <p:cNvSpPr txBox="1"/>
          <p:nvPr/>
        </p:nvSpPr>
        <p:spPr>
          <a:xfrm>
            <a:off x="548640" y="1901952"/>
            <a:ext cx="224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endParaRPr/>
          </a:p>
        </p:txBody>
      </p:sp>
      <p:sp>
        <p:nvSpPr>
          <p:cNvPr id="140" name="Google Shape;140;h63a7b705bf8cfe3c_0_91"/>
          <p:cNvSpPr txBox="1"/>
          <p:nvPr/>
        </p:nvSpPr>
        <p:spPr>
          <a:xfrm>
            <a:off x="548640" y="2286000"/>
            <a:ext cx="224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Wide → country-year</a:t>
            </a:r>
            <a:endParaRPr/>
          </a:p>
        </p:txBody>
      </p:sp>
      <p:sp>
        <p:nvSpPr>
          <p:cNvPr id="141" name="Google Shape;141;h63a7b705bf8cfe3c_0_91"/>
          <p:cNvSpPr txBox="1"/>
          <p:nvPr/>
        </p:nvSpPr>
        <p:spPr>
          <a:xfrm>
            <a:off x="576072" y="2706624"/>
            <a:ext cx="21945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Each row = one country in one year</a:t>
            </a:r>
            <a:endParaRPr/>
          </a:p>
        </p:txBody>
      </p:sp>
      <p:sp>
        <p:nvSpPr>
          <p:cNvPr id="142" name="Google Shape;142;h63a7b705bf8cfe3c_0_91"/>
          <p:cNvSpPr txBox="1"/>
          <p:nvPr/>
        </p:nvSpPr>
        <p:spPr>
          <a:xfrm>
            <a:off x="2926080" y="2121408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3" name="Google Shape;143;h63a7b705bf8cfe3c_0_91"/>
          <p:cNvSpPr/>
          <p:nvPr/>
        </p:nvSpPr>
        <p:spPr>
          <a:xfrm>
            <a:off x="3346704" y="1280160"/>
            <a:ext cx="2469000" cy="21945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h63a7b705bf8cfe3c_0_91"/>
          <p:cNvSpPr txBox="1"/>
          <p:nvPr/>
        </p:nvSpPr>
        <p:spPr>
          <a:xfrm>
            <a:off x="4242816" y="1435608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5" name="Google Shape;145;h63a7b705bf8cfe3c_0_91"/>
          <p:cNvSpPr txBox="1"/>
          <p:nvPr/>
        </p:nvSpPr>
        <p:spPr>
          <a:xfrm>
            <a:off x="3456432" y="1901952"/>
            <a:ext cx="224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Select Years</a:t>
            </a:r>
            <a:endParaRPr/>
          </a:p>
        </p:txBody>
      </p:sp>
      <p:sp>
        <p:nvSpPr>
          <p:cNvPr id="146" name="Google Shape;146;h63a7b705bf8cfe3c_0_91"/>
          <p:cNvSpPr txBox="1"/>
          <p:nvPr/>
        </p:nvSpPr>
        <p:spPr>
          <a:xfrm>
            <a:off x="3456432" y="2286000"/>
            <a:ext cx="224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2006–2021</a:t>
            </a:r>
            <a:endParaRPr/>
          </a:p>
        </p:txBody>
      </p:sp>
      <p:sp>
        <p:nvSpPr>
          <p:cNvPr id="147" name="Google Shape;147;h63a7b705bf8cfe3c_0_91"/>
          <p:cNvSpPr txBox="1"/>
          <p:nvPr/>
        </p:nvSpPr>
        <p:spPr>
          <a:xfrm>
            <a:off x="3483864" y="2706624"/>
            <a:ext cx="2194500" cy="4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The missing percentage increases sharply after 2021 (&gt;20%</a:t>
            </a: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</a:rPr>
              <a:t>)</a:t>
            </a:r>
            <a:endParaRPr/>
          </a:p>
        </p:txBody>
      </p:sp>
      <p:sp>
        <p:nvSpPr>
          <p:cNvPr id="148" name="Google Shape;148;h63a7b705bf8cfe3c_0_91"/>
          <p:cNvSpPr txBox="1"/>
          <p:nvPr/>
        </p:nvSpPr>
        <p:spPr>
          <a:xfrm>
            <a:off x="5833872" y="2121408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49" name="Google Shape;149;h63a7b705bf8cfe3c_0_91"/>
          <p:cNvSpPr/>
          <p:nvPr/>
        </p:nvSpPr>
        <p:spPr>
          <a:xfrm>
            <a:off x="6254496" y="1280160"/>
            <a:ext cx="2469000" cy="21945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63a7b705bf8cfe3c_0_91"/>
          <p:cNvSpPr txBox="1"/>
          <p:nvPr/>
        </p:nvSpPr>
        <p:spPr>
          <a:xfrm>
            <a:off x="7150608" y="1435608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B9464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51" name="Google Shape;151;h63a7b705bf8cfe3c_0_91"/>
          <p:cNvSpPr txBox="1"/>
          <p:nvPr/>
        </p:nvSpPr>
        <p:spPr>
          <a:xfrm>
            <a:off x="6364224" y="1901952"/>
            <a:ext cx="224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Filter GDP Data</a:t>
            </a:r>
            <a:endParaRPr/>
          </a:p>
        </p:txBody>
      </p:sp>
      <p:sp>
        <p:nvSpPr>
          <p:cNvPr id="152" name="Google Shape;152;h63a7b705bf8cfe3c_0_91"/>
          <p:cNvSpPr txBox="1"/>
          <p:nvPr/>
        </p:nvSpPr>
        <p:spPr>
          <a:xfrm>
            <a:off x="6364224" y="2286000"/>
            <a:ext cx="224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94646"/>
                </a:solidFill>
                <a:latin typeface="Calibri"/>
                <a:ea typeface="Calibri"/>
                <a:cs typeface="Calibri"/>
                <a:sym typeface="Calibri"/>
              </a:rPr>
              <a:t>217 → 193 countries</a:t>
            </a:r>
            <a:endParaRPr/>
          </a:p>
        </p:txBody>
      </p:sp>
      <p:sp>
        <p:nvSpPr>
          <p:cNvPr id="153" name="Google Shape;153;h63a7b705bf8cfe3c_0_91"/>
          <p:cNvSpPr txBox="1"/>
          <p:nvPr/>
        </p:nvSpPr>
        <p:spPr>
          <a:xfrm>
            <a:off x="6391656" y="2706624"/>
            <a:ext cx="21945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Remove countries missing GDP per capita OR GDP growth</a:t>
            </a:r>
            <a:endParaRPr/>
          </a:p>
        </p:txBody>
      </p:sp>
      <p:sp>
        <p:nvSpPr>
          <p:cNvPr id="154" name="Google Shape;154;h63a7b705bf8cfe3c_0_91"/>
          <p:cNvSpPr txBox="1"/>
          <p:nvPr/>
        </p:nvSpPr>
        <p:spPr>
          <a:xfrm>
            <a:off x="8741664" y="2121408"/>
            <a:ext cx="32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5" name="Google Shape;155;h63a7b705bf8cfe3c_0_91"/>
          <p:cNvSpPr/>
          <p:nvPr/>
        </p:nvSpPr>
        <p:spPr>
          <a:xfrm>
            <a:off x="9162288" y="1280160"/>
            <a:ext cx="2469000" cy="219450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63a7b705bf8cfe3c_0_91"/>
          <p:cNvSpPr txBox="1"/>
          <p:nvPr/>
        </p:nvSpPr>
        <p:spPr>
          <a:xfrm>
            <a:off x="10058400" y="1435608"/>
            <a:ext cx="658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57" name="Google Shape;157;h63a7b705bf8cfe3c_0_91"/>
          <p:cNvSpPr txBox="1"/>
          <p:nvPr/>
        </p:nvSpPr>
        <p:spPr>
          <a:xfrm>
            <a:off x="9272016" y="1901952"/>
            <a:ext cx="224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Missing Predictors</a:t>
            </a:r>
            <a:endParaRPr/>
          </a:p>
        </p:txBody>
      </p:sp>
      <p:sp>
        <p:nvSpPr>
          <p:cNvPr id="158" name="Google Shape;158;h63a7b705bf8cfe3c_0_91"/>
          <p:cNvSpPr txBox="1"/>
          <p:nvPr/>
        </p:nvSpPr>
        <p:spPr>
          <a:xfrm>
            <a:off x="9272016" y="2286000"/>
            <a:ext cx="2249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Keep NA for EDA</a:t>
            </a:r>
            <a:endParaRPr/>
          </a:p>
        </p:txBody>
      </p:sp>
      <p:sp>
        <p:nvSpPr>
          <p:cNvPr id="159" name="Google Shape;159;h63a7b705bf8cfe3c_0_91"/>
          <p:cNvSpPr txBox="1"/>
          <p:nvPr/>
        </p:nvSpPr>
        <p:spPr>
          <a:xfrm>
            <a:off x="9299448" y="2706624"/>
            <a:ext cx="21945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Impute later inside the ML pipeline</a:t>
            </a:r>
            <a:endParaRPr/>
          </a:p>
        </p:txBody>
      </p:sp>
      <p:sp>
        <p:nvSpPr>
          <p:cNvPr id="160" name="Google Shape;160;h63a7b705bf8cfe3c_0_91"/>
          <p:cNvSpPr/>
          <p:nvPr/>
        </p:nvSpPr>
        <p:spPr>
          <a:xfrm>
            <a:off x="640080" y="3730752"/>
            <a:ext cx="10927200" cy="749700"/>
          </a:xfrm>
          <a:prstGeom prst="roundRect">
            <a:avLst>
              <a:gd name="adj" fmla="val 16667"/>
            </a:avLst>
          </a:prstGeom>
          <a:solidFill>
            <a:srgbClr val="FCF1F1"/>
          </a:solidFill>
          <a:ln w="9525" cap="flat" cmpd="sng">
            <a:solidFill>
              <a:srgbClr val="EBCAC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63a7b705bf8cfe3c_0_91"/>
          <p:cNvSpPr txBox="1"/>
          <p:nvPr/>
        </p:nvSpPr>
        <p:spPr>
          <a:xfrm>
            <a:off x="868680" y="3913632"/>
            <a:ext cx="246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B94646"/>
                </a:solidFill>
                <a:latin typeface="Calibri"/>
                <a:ea typeface="Calibri"/>
                <a:cs typeface="Calibri"/>
                <a:sym typeface="Calibri"/>
              </a:rPr>
              <a:t>Why remove these 24 countries?</a:t>
            </a:r>
            <a:endParaRPr/>
          </a:p>
        </p:txBody>
      </p:sp>
      <p:sp>
        <p:nvSpPr>
          <p:cNvPr id="162" name="Google Shape;162;h63a7b705bf8cfe3c_0_91"/>
          <p:cNvSpPr txBox="1"/>
          <p:nvPr/>
        </p:nvSpPr>
        <p:spPr>
          <a:xfrm>
            <a:off x="3246120" y="3858768"/>
            <a:ext cx="7909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GDP is used to construct the ML prediction target, so complete GDP per capita and GDP growth history is required.</a:t>
            </a:r>
            <a:endParaRPr/>
          </a:p>
        </p:txBody>
      </p:sp>
      <p:sp>
        <p:nvSpPr>
          <p:cNvPr id="163" name="Google Shape;163;h63a7b705bf8cfe3c_0_91"/>
          <p:cNvSpPr txBox="1"/>
          <p:nvPr/>
        </p:nvSpPr>
        <p:spPr>
          <a:xfrm>
            <a:off x="685800" y="4709160"/>
            <a:ext cx="201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Country filtering</a:t>
            </a:r>
            <a:endParaRPr/>
          </a:p>
        </p:txBody>
      </p:sp>
      <p:sp>
        <p:nvSpPr>
          <p:cNvPr id="164" name="Google Shape;164;h63a7b705bf8cfe3c_0_91"/>
          <p:cNvSpPr/>
          <p:nvPr/>
        </p:nvSpPr>
        <p:spPr>
          <a:xfrm>
            <a:off x="658368" y="5074920"/>
            <a:ext cx="2441400" cy="9327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63a7b705bf8cfe3c_0_91"/>
          <p:cNvSpPr txBox="1"/>
          <p:nvPr/>
        </p:nvSpPr>
        <p:spPr>
          <a:xfrm>
            <a:off x="731519" y="5230368"/>
            <a:ext cx="22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(3,472, 26)</a:t>
            </a:r>
            <a:endParaRPr/>
          </a:p>
        </p:txBody>
      </p:sp>
      <p:sp>
        <p:nvSpPr>
          <p:cNvPr id="166" name="Google Shape;166;h63a7b705bf8cfe3c_0_91"/>
          <p:cNvSpPr txBox="1"/>
          <p:nvPr/>
        </p:nvSpPr>
        <p:spPr>
          <a:xfrm>
            <a:off x="731519" y="5614416"/>
            <a:ext cx="2295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shape before</a:t>
            </a:r>
            <a:endParaRPr/>
          </a:p>
        </p:txBody>
      </p:sp>
      <p:sp>
        <p:nvSpPr>
          <p:cNvPr id="167" name="Google Shape;167;h63a7b705bf8cfe3c_0_91"/>
          <p:cNvSpPr/>
          <p:nvPr/>
        </p:nvSpPr>
        <p:spPr>
          <a:xfrm>
            <a:off x="3474720" y="5074920"/>
            <a:ext cx="2441400" cy="9327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63a7b705bf8cfe3c_0_91"/>
          <p:cNvSpPr txBox="1"/>
          <p:nvPr/>
        </p:nvSpPr>
        <p:spPr>
          <a:xfrm>
            <a:off x="3547872" y="5230368"/>
            <a:ext cx="22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/>
          </a:p>
        </p:txBody>
      </p:sp>
      <p:sp>
        <p:nvSpPr>
          <p:cNvPr id="169" name="Google Shape;169;h63a7b705bf8cfe3c_0_91"/>
          <p:cNvSpPr txBox="1"/>
          <p:nvPr/>
        </p:nvSpPr>
        <p:spPr>
          <a:xfrm>
            <a:off x="3547872" y="5614416"/>
            <a:ext cx="2295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rows removed</a:t>
            </a:r>
            <a:endParaRPr/>
          </a:p>
        </p:txBody>
      </p:sp>
      <p:sp>
        <p:nvSpPr>
          <p:cNvPr id="170" name="Google Shape;170;h63a7b705bf8cfe3c_0_91"/>
          <p:cNvSpPr/>
          <p:nvPr/>
        </p:nvSpPr>
        <p:spPr>
          <a:xfrm>
            <a:off x="6291072" y="5074920"/>
            <a:ext cx="2441400" cy="9327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63a7b705bf8cfe3c_0_91"/>
          <p:cNvSpPr txBox="1"/>
          <p:nvPr/>
        </p:nvSpPr>
        <p:spPr>
          <a:xfrm>
            <a:off x="6364224" y="5230368"/>
            <a:ext cx="22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11.06%</a:t>
            </a:r>
            <a:endParaRPr/>
          </a:p>
        </p:txBody>
      </p:sp>
      <p:sp>
        <p:nvSpPr>
          <p:cNvPr id="172" name="Google Shape;172;h63a7b705bf8cfe3c_0_91"/>
          <p:cNvSpPr txBox="1"/>
          <p:nvPr/>
        </p:nvSpPr>
        <p:spPr>
          <a:xfrm>
            <a:off x="6364224" y="5614416"/>
            <a:ext cx="2295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of rows removed</a:t>
            </a:r>
            <a:endParaRPr/>
          </a:p>
        </p:txBody>
      </p:sp>
      <p:sp>
        <p:nvSpPr>
          <p:cNvPr id="173" name="Google Shape;173;h63a7b705bf8cfe3c_0_91"/>
          <p:cNvSpPr/>
          <p:nvPr/>
        </p:nvSpPr>
        <p:spPr>
          <a:xfrm>
            <a:off x="9107424" y="5074920"/>
            <a:ext cx="2441400" cy="932700"/>
          </a:xfrm>
          <a:prstGeom prst="roundRect">
            <a:avLst>
              <a:gd name="adj" fmla="val 16667"/>
            </a:avLst>
          </a:prstGeom>
          <a:solidFill>
            <a:srgbClr val="F0F5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63a7b705bf8cfe3c_0_91"/>
          <p:cNvSpPr txBox="1"/>
          <p:nvPr/>
        </p:nvSpPr>
        <p:spPr>
          <a:xfrm>
            <a:off x="9180576" y="5230368"/>
            <a:ext cx="22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(3,088, 26)</a:t>
            </a:r>
            <a:endParaRPr/>
          </a:p>
        </p:txBody>
      </p:sp>
      <p:sp>
        <p:nvSpPr>
          <p:cNvPr id="175" name="Google Shape;175;h63a7b705bf8cfe3c_0_91"/>
          <p:cNvSpPr txBox="1"/>
          <p:nvPr/>
        </p:nvSpPr>
        <p:spPr>
          <a:xfrm>
            <a:off x="9180576" y="5614416"/>
            <a:ext cx="2295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shape after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3a7b705bf8cfe3c_0_197"/>
          <p:cNvSpPr txBox="1"/>
          <p:nvPr/>
        </p:nvSpPr>
        <p:spPr>
          <a:xfrm>
            <a:off x="594360" y="27432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h63a7b705bf8cfe3c_0_197" descr="cell31_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3238" y="782225"/>
            <a:ext cx="7955023" cy="49213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h63a7b705bf8cfe3c_0_197"/>
          <p:cNvSpPr/>
          <p:nvPr/>
        </p:nvSpPr>
        <p:spPr>
          <a:xfrm>
            <a:off x="3069150" y="6000125"/>
            <a:ext cx="6619800" cy="507900"/>
          </a:xfrm>
          <a:prstGeom prst="roundRect">
            <a:avLst>
              <a:gd name="adj" fmla="val 16667"/>
            </a:avLst>
          </a:prstGeom>
          <a:solidFill>
            <a:srgbClr val="FCF4E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63a7b705bf8cfe3c_0_197"/>
          <p:cNvSpPr txBox="1"/>
          <p:nvPr/>
        </p:nvSpPr>
        <p:spPr>
          <a:xfrm>
            <a:off x="3069150" y="6053981"/>
            <a:ext cx="66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GDP per capita </a:t>
            </a:r>
            <a:r>
              <a:rPr lang="en-US" sz="20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is strongly right-skewed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63a7b705bf8cfe3c_0_268"/>
          <p:cNvSpPr txBox="1"/>
          <p:nvPr/>
        </p:nvSpPr>
        <p:spPr>
          <a:xfrm>
            <a:off x="566928" y="256032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Model &amp; Metric Selection</a:t>
            </a:r>
            <a:endParaRPr sz="1500"/>
          </a:p>
        </p:txBody>
      </p:sp>
      <p:sp>
        <p:nvSpPr>
          <p:cNvPr id="189" name="Google Shape;189;h63a7b705bf8cfe3c_0_268"/>
          <p:cNvSpPr txBox="1"/>
          <p:nvPr/>
        </p:nvSpPr>
        <p:spPr>
          <a:xfrm>
            <a:off x="594360" y="768096"/>
            <a:ext cx="10972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Supervised regression: Year t indicators → continuous GDP per capita in Year t+1</a:t>
            </a:r>
            <a:endParaRPr b="1"/>
          </a:p>
        </p:txBody>
      </p:sp>
      <p:sp>
        <p:nvSpPr>
          <p:cNvPr id="190" name="Google Shape;190;h63a7b705bf8cfe3c_0_268"/>
          <p:cNvSpPr/>
          <p:nvPr/>
        </p:nvSpPr>
        <p:spPr>
          <a:xfrm>
            <a:off x="457200" y="1261872"/>
            <a:ext cx="2541900" cy="18744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63a7b705bf8cfe3c_0_268"/>
          <p:cNvSpPr txBox="1"/>
          <p:nvPr/>
        </p:nvSpPr>
        <p:spPr>
          <a:xfrm>
            <a:off x="585216" y="1463040"/>
            <a:ext cx="2286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/>
          </a:p>
        </p:txBody>
      </p:sp>
      <p:sp>
        <p:nvSpPr>
          <p:cNvPr id="192" name="Google Shape;192;h63a7b705bf8cfe3c_0_268"/>
          <p:cNvSpPr txBox="1"/>
          <p:nvPr/>
        </p:nvSpPr>
        <p:spPr>
          <a:xfrm>
            <a:off x="612648" y="184708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193" name="Google Shape;193;h63a7b705bf8cfe3c_0_268"/>
          <p:cNvSpPr txBox="1"/>
          <p:nvPr/>
        </p:nvSpPr>
        <p:spPr>
          <a:xfrm>
            <a:off x="1115568" y="1828800"/>
            <a:ext cx="1700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Simple, interpretable baseline</a:t>
            </a:r>
            <a:endParaRPr/>
          </a:p>
        </p:txBody>
      </p:sp>
      <p:sp>
        <p:nvSpPr>
          <p:cNvPr id="194" name="Google Shape;194;h63a7b705bf8cfe3c_0_268"/>
          <p:cNvSpPr txBox="1"/>
          <p:nvPr/>
        </p:nvSpPr>
        <p:spPr>
          <a:xfrm>
            <a:off x="612648" y="23865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/>
          </a:p>
        </p:txBody>
      </p:sp>
      <p:sp>
        <p:nvSpPr>
          <p:cNvPr id="195" name="Google Shape;195;h63a7b705bf8cfe3c_0_268"/>
          <p:cNvSpPr txBox="1"/>
          <p:nvPr/>
        </p:nvSpPr>
        <p:spPr>
          <a:xfrm>
            <a:off x="1115568" y="2359152"/>
            <a:ext cx="1700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Weighted linear combination</a:t>
            </a:r>
            <a:endParaRPr/>
          </a:p>
        </p:txBody>
      </p:sp>
      <p:sp>
        <p:nvSpPr>
          <p:cNvPr id="196" name="Google Shape;196;h63a7b705bf8cfe3c_0_268"/>
          <p:cNvSpPr/>
          <p:nvPr/>
        </p:nvSpPr>
        <p:spPr>
          <a:xfrm>
            <a:off x="3355848" y="1261872"/>
            <a:ext cx="2541900" cy="18744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h63a7b705bf8cfe3c_0_268"/>
          <p:cNvSpPr txBox="1"/>
          <p:nvPr/>
        </p:nvSpPr>
        <p:spPr>
          <a:xfrm>
            <a:off x="3483864" y="1463040"/>
            <a:ext cx="2286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198" name="Google Shape;198;h63a7b705bf8cfe3c_0_268"/>
          <p:cNvSpPr txBox="1"/>
          <p:nvPr/>
        </p:nvSpPr>
        <p:spPr>
          <a:xfrm>
            <a:off x="3511296" y="184708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199" name="Google Shape;199;h63a7b705bf8cfe3c_0_268"/>
          <p:cNvSpPr txBox="1"/>
          <p:nvPr/>
        </p:nvSpPr>
        <p:spPr>
          <a:xfrm>
            <a:off x="4014215" y="1828800"/>
            <a:ext cx="1700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Capture nonlinear relationships</a:t>
            </a:r>
            <a:endParaRPr/>
          </a:p>
        </p:txBody>
      </p:sp>
      <p:sp>
        <p:nvSpPr>
          <p:cNvPr id="200" name="Google Shape;200;h63a7b705bf8cfe3c_0_268"/>
          <p:cNvSpPr txBox="1"/>
          <p:nvPr/>
        </p:nvSpPr>
        <p:spPr>
          <a:xfrm>
            <a:off x="3511296" y="23865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/>
          </a:p>
        </p:txBody>
      </p:sp>
      <p:sp>
        <p:nvSpPr>
          <p:cNvPr id="201" name="Google Shape;201;h63a7b705bf8cfe3c_0_268"/>
          <p:cNvSpPr txBox="1"/>
          <p:nvPr/>
        </p:nvSpPr>
        <p:spPr>
          <a:xfrm>
            <a:off x="4014215" y="2359152"/>
            <a:ext cx="1700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Recursive predictor splits</a:t>
            </a:r>
            <a:endParaRPr/>
          </a:p>
        </p:txBody>
      </p:sp>
      <p:sp>
        <p:nvSpPr>
          <p:cNvPr id="202" name="Google Shape;202;h63a7b705bf8cfe3c_0_268"/>
          <p:cNvSpPr/>
          <p:nvPr/>
        </p:nvSpPr>
        <p:spPr>
          <a:xfrm>
            <a:off x="6254496" y="1261872"/>
            <a:ext cx="2541900" cy="1874400"/>
          </a:xfrm>
          <a:prstGeom prst="roundRect">
            <a:avLst>
              <a:gd name="adj" fmla="val 16667"/>
            </a:avLst>
          </a:prstGeom>
          <a:solidFill>
            <a:srgbClr val="EEF8F2"/>
          </a:solidFill>
          <a:ln w="9525" cap="flat" cmpd="sng">
            <a:solidFill>
              <a:srgbClr val="30875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h63a7b705bf8cfe3c_0_268"/>
          <p:cNvSpPr txBox="1"/>
          <p:nvPr/>
        </p:nvSpPr>
        <p:spPr>
          <a:xfrm>
            <a:off x="6382512" y="1463040"/>
            <a:ext cx="2286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204" name="Google Shape;204;h63a7b705bf8cfe3c_0_268"/>
          <p:cNvSpPr txBox="1"/>
          <p:nvPr/>
        </p:nvSpPr>
        <p:spPr>
          <a:xfrm>
            <a:off x="6409944" y="184708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205" name="Google Shape;205;h63a7b705bf8cfe3c_0_268"/>
          <p:cNvSpPr txBox="1"/>
          <p:nvPr/>
        </p:nvSpPr>
        <p:spPr>
          <a:xfrm>
            <a:off x="6912864" y="1828800"/>
            <a:ext cx="1700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Stable ensemble; reduce tree overfitting</a:t>
            </a:r>
            <a:endParaRPr/>
          </a:p>
        </p:txBody>
      </p:sp>
      <p:sp>
        <p:nvSpPr>
          <p:cNvPr id="206" name="Google Shape;206;h63a7b705bf8cfe3c_0_268"/>
          <p:cNvSpPr txBox="1"/>
          <p:nvPr/>
        </p:nvSpPr>
        <p:spPr>
          <a:xfrm>
            <a:off x="6409944" y="23865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/>
          </a:p>
        </p:txBody>
      </p:sp>
      <p:sp>
        <p:nvSpPr>
          <p:cNvPr id="207" name="Google Shape;207;h63a7b705bf8cfe3c_0_268"/>
          <p:cNvSpPr txBox="1"/>
          <p:nvPr/>
        </p:nvSpPr>
        <p:spPr>
          <a:xfrm>
            <a:off x="6912864" y="2359152"/>
            <a:ext cx="1700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Many trees → average predictions</a:t>
            </a:r>
            <a:endParaRPr/>
          </a:p>
        </p:txBody>
      </p:sp>
      <p:sp>
        <p:nvSpPr>
          <p:cNvPr id="208" name="Google Shape;208;h63a7b705bf8cfe3c_0_268"/>
          <p:cNvSpPr/>
          <p:nvPr/>
        </p:nvSpPr>
        <p:spPr>
          <a:xfrm>
            <a:off x="9153144" y="1261872"/>
            <a:ext cx="2541900" cy="1874400"/>
          </a:xfrm>
          <a:prstGeom prst="roundRect">
            <a:avLst>
              <a:gd name="adj" fmla="val 16667"/>
            </a:avLst>
          </a:prstGeom>
          <a:solidFill>
            <a:srgbClr val="F4F0FA"/>
          </a:solidFill>
          <a:ln w="9525" cap="flat" cmpd="sng">
            <a:solidFill>
              <a:srgbClr val="6F52A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h63a7b705bf8cfe3c_0_268"/>
          <p:cNvSpPr txBox="1"/>
          <p:nvPr/>
        </p:nvSpPr>
        <p:spPr>
          <a:xfrm>
            <a:off x="9281160" y="1463040"/>
            <a:ext cx="2286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210" name="Google Shape;210;h63a7b705bf8cfe3c_0_268"/>
          <p:cNvSpPr txBox="1"/>
          <p:nvPr/>
        </p:nvSpPr>
        <p:spPr>
          <a:xfrm>
            <a:off x="9308592" y="1847088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211" name="Google Shape;211;h63a7b705bf8cfe3c_0_268"/>
          <p:cNvSpPr txBox="1"/>
          <p:nvPr/>
        </p:nvSpPr>
        <p:spPr>
          <a:xfrm>
            <a:off x="9811512" y="1828800"/>
            <a:ext cx="1700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Powerful nonlinear boosted ensemble</a:t>
            </a:r>
            <a:endParaRPr/>
          </a:p>
        </p:txBody>
      </p:sp>
      <p:sp>
        <p:nvSpPr>
          <p:cNvPr id="212" name="Google Shape;212;h63a7b705bf8cfe3c_0_268"/>
          <p:cNvSpPr txBox="1"/>
          <p:nvPr/>
        </p:nvSpPr>
        <p:spPr>
          <a:xfrm>
            <a:off x="9308592" y="2386584"/>
            <a:ext cx="50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endParaRPr/>
          </a:p>
        </p:txBody>
      </p:sp>
      <p:sp>
        <p:nvSpPr>
          <p:cNvPr id="213" name="Google Shape;213;h63a7b705bf8cfe3c_0_268"/>
          <p:cNvSpPr txBox="1"/>
          <p:nvPr/>
        </p:nvSpPr>
        <p:spPr>
          <a:xfrm>
            <a:off x="9811512" y="2359152"/>
            <a:ext cx="1700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Sequentially correct prior errors</a:t>
            </a:r>
            <a:endParaRPr/>
          </a:p>
        </p:txBody>
      </p:sp>
      <p:sp>
        <p:nvSpPr>
          <p:cNvPr id="214" name="Google Shape;214;h63a7b705bf8cfe3c_0_268"/>
          <p:cNvSpPr txBox="1"/>
          <p:nvPr/>
        </p:nvSpPr>
        <p:spPr>
          <a:xfrm>
            <a:off x="658368" y="3502152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How we evaluate the models</a:t>
            </a:r>
            <a:endParaRPr/>
          </a:p>
        </p:txBody>
      </p:sp>
      <p:sp>
        <p:nvSpPr>
          <p:cNvPr id="215" name="Google Shape;215;h63a7b705bf8cfe3c_0_268"/>
          <p:cNvSpPr/>
          <p:nvPr/>
        </p:nvSpPr>
        <p:spPr>
          <a:xfrm>
            <a:off x="658368" y="3931920"/>
            <a:ext cx="3401700" cy="123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h63a7b705bf8cfe3c_0_268"/>
          <p:cNvSpPr txBox="1"/>
          <p:nvPr/>
        </p:nvSpPr>
        <p:spPr>
          <a:xfrm>
            <a:off x="822959" y="4133087"/>
            <a:ext cx="73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MAE ↓</a:t>
            </a:r>
            <a:endParaRPr/>
          </a:p>
        </p:txBody>
      </p:sp>
      <p:sp>
        <p:nvSpPr>
          <p:cNvPr id="217" name="Google Shape;217;h63a7b705bf8cfe3c_0_268"/>
          <p:cNvSpPr txBox="1"/>
          <p:nvPr/>
        </p:nvSpPr>
        <p:spPr>
          <a:xfrm>
            <a:off x="1591056" y="4151376"/>
            <a:ext cx="1005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/>
          </a:p>
        </p:txBody>
      </p:sp>
      <p:sp>
        <p:nvSpPr>
          <p:cNvPr id="218" name="Google Shape;218;h63a7b705bf8cfe3c_0_268"/>
          <p:cNvSpPr txBox="1"/>
          <p:nvPr/>
        </p:nvSpPr>
        <p:spPr>
          <a:xfrm>
            <a:off x="822959" y="4507992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Average absolute error in GDP-per-capita units</a:t>
            </a:r>
            <a:endParaRPr/>
          </a:p>
        </p:txBody>
      </p:sp>
      <p:sp>
        <p:nvSpPr>
          <p:cNvPr id="219" name="Google Shape;219;h63a7b705bf8cfe3c_0_268"/>
          <p:cNvSpPr/>
          <p:nvPr/>
        </p:nvSpPr>
        <p:spPr>
          <a:xfrm>
            <a:off x="4425696" y="3931920"/>
            <a:ext cx="3401700" cy="123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h63a7b705bf8cfe3c_0_268"/>
          <p:cNvSpPr txBox="1"/>
          <p:nvPr/>
        </p:nvSpPr>
        <p:spPr>
          <a:xfrm>
            <a:off x="4590288" y="4133087"/>
            <a:ext cx="73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RMSE ↓</a:t>
            </a:r>
            <a:endParaRPr/>
          </a:p>
        </p:txBody>
      </p:sp>
      <p:sp>
        <p:nvSpPr>
          <p:cNvPr id="221" name="Google Shape;221;h63a7b705bf8cfe3c_0_268"/>
          <p:cNvSpPr txBox="1"/>
          <p:nvPr/>
        </p:nvSpPr>
        <p:spPr>
          <a:xfrm>
            <a:off x="5358383" y="4151376"/>
            <a:ext cx="1005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SUPPORTING</a:t>
            </a:r>
            <a:endParaRPr/>
          </a:p>
        </p:txBody>
      </p:sp>
      <p:sp>
        <p:nvSpPr>
          <p:cNvPr id="222" name="Google Shape;222;h63a7b705bf8cfe3c_0_268"/>
          <p:cNvSpPr txBox="1"/>
          <p:nvPr/>
        </p:nvSpPr>
        <p:spPr>
          <a:xfrm>
            <a:off x="4590288" y="4507992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Penalizes large prediction errors more strongly</a:t>
            </a:r>
            <a:endParaRPr/>
          </a:p>
        </p:txBody>
      </p:sp>
      <p:sp>
        <p:nvSpPr>
          <p:cNvPr id="223" name="Google Shape;223;h63a7b705bf8cfe3c_0_268"/>
          <p:cNvSpPr/>
          <p:nvPr/>
        </p:nvSpPr>
        <p:spPr>
          <a:xfrm>
            <a:off x="8193024" y="3931920"/>
            <a:ext cx="3401700" cy="123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h63a7b705bf8cfe3c_0_268"/>
          <p:cNvSpPr txBox="1"/>
          <p:nvPr/>
        </p:nvSpPr>
        <p:spPr>
          <a:xfrm>
            <a:off x="8357616" y="4133087"/>
            <a:ext cx="73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R² ↑</a:t>
            </a:r>
            <a:endParaRPr/>
          </a:p>
        </p:txBody>
      </p:sp>
      <p:sp>
        <p:nvSpPr>
          <p:cNvPr id="225" name="Google Shape;225;h63a7b705bf8cfe3c_0_268"/>
          <p:cNvSpPr txBox="1"/>
          <p:nvPr/>
        </p:nvSpPr>
        <p:spPr>
          <a:xfrm>
            <a:off x="9125712" y="4151376"/>
            <a:ext cx="10059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SUPPORTING</a:t>
            </a:r>
            <a:endParaRPr/>
          </a:p>
        </p:txBody>
      </p:sp>
      <p:sp>
        <p:nvSpPr>
          <p:cNvPr id="226" name="Google Shape;226;h63a7b705bf8cfe3c_0_268"/>
          <p:cNvSpPr txBox="1"/>
          <p:nvPr/>
        </p:nvSpPr>
        <p:spPr>
          <a:xfrm>
            <a:off x="8357616" y="4507992"/>
            <a:ext cx="301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Proportion of variation in GDP explained</a:t>
            </a:r>
            <a:endParaRPr/>
          </a:p>
        </p:txBody>
      </p:sp>
      <p:sp>
        <p:nvSpPr>
          <p:cNvPr id="227" name="Google Shape;227;h63a7b705bf8cfe3c_0_268"/>
          <p:cNvSpPr/>
          <p:nvPr/>
        </p:nvSpPr>
        <p:spPr>
          <a:xfrm>
            <a:off x="777240" y="5559552"/>
            <a:ext cx="10652700" cy="6675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h63a7b705bf8cfe3c_0_268"/>
          <p:cNvSpPr txBox="1"/>
          <p:nvPr/>
        </p:nvSpPr>
        <p:spPr>
          <a:xfrm>
            <a:off x="960120" y="5769864"/>
            <a:ext cx="102870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Selection strategy: compare 4 baselines → </a:t>
            </a:r>
            <a:r>
              <a:rPr lang="en-US" sz="123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pick best performance model </a:t>
            </a:r>
            <a:r>
              <a:rPr lang="en-US" sz="123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→ tun</a:t>
            </a:r>
            <a:r>
              <a:rPr lang="en-US" sz="123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ing </a:t>
            </a:r>
            <a:r>
              <a:rPr lang="en-US" sz="123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 → select final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4d99ccb46f147202_1_232"/>
          <p:cNvSpPr txBox="1"/>
          <p:nvPr/>
        </p:nvSpPr>
        <p:spPr>
          <a:xfrm>
            <a:off x="640080" y="22860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5. Machine Learning Data Preparation</a:t>
            </a:r>
            <a:endParaRPr sz="2800"/>
          </a:p>
        </p:txBody>
      </p:sp>
      <p:sp>
        <p:nvSpPr>
          <p:cNvPr id="234" name="Google Shape;234;h4d99ccb46f147202_1_232"/>
          <p:cNvSpPr/>
          <p:nvPr/>
        </p:nvSpPr>
        <p:spPr>
          <a:xfrm>
            <a:off x="640080" y="987552"/>
            <a:ext cx="3246000" cy="1188600"/>
          </a:xfrm>
          <a:prstGeom prst="roundRect">
            <a:avLst>
              <a:gd name="adj" fmla="val 16667"/>
            </a:avLst>
          </a:prstGeom>
          <a:solidFill>
            <a:srgbClr val="F8FAFD"/>
          </a:solidFill>
          <a:ln w="9525" cap="flat" cmpd="sng">
            <a:solidFill>
              <a:srgbClr val="DDE2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h4d99ccb46f147202_1_232"/>
          <p:cNvSpPr/>
          <p:nvPr/>
        </p:nvSpPr>
        <p:spPr>
          <a:xfrm>
            <a:off x="804671" y="1152144"/>
            <a:ext cx="384000" cy="384000"/>
          </a:xfrm>
          <a:prstGeom prst="ellipse">
            <a:avLst/>
          </a:prstGeom>
          <a:solidFill>
            <a:srgbClr val="325B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h4d99ccb46f147202_1_232"/>
          <p:cNvSpPr txBox="1"/>
          <p:nvPr/>
        </p:nvSpPr>
        <p:spPr>
          <a:xfrm>
            <a:off x="804671" y="1243584"/>
            <a:ext cx="384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7" name="Google Shape;237;h4d99ccb46f147202_1_232"/>
          <p:cNvSpPr txBox="1"/>
          <p:nvPr/>
        </p:nvSpPr>
        <p:spPr>
          <a:xfrm>
            <a:off x="1298448" y="1170432"/>
            <a:ext cx="24231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Create Forecast Target</a:t>
            </a:r>
            <a:endParaRPr/>
          </a:p>
        </p:txBody>
      </p:sp>
      <p:sp>
        <p:nvSpPr>
          <p:cNvPr id="238" name="Google Shape;238;h4d99ccb46f147202_1_232"/>
          <p:cNvSpPr txBox="1"/>
          <p:nvPr/>
        </p:nvSpPr>
        <p:spPr>
          <a:xfrm>
            <a:off x="1298448" y="1554480"/>
            <a:ext cx="2423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325BE1"/>
                </a:solidFill>
                <a:latin typeface="Calibri"/>
                <a:ea typeface="Calibri"/>
                <a:cs typeface="Calibri"/>
                <a:sym typeface="Calibri"/>
              </a:rPr>
              <a:t>Year t predictors → GDP per capita at t+1</a:t>
            </a:r>
            <a:endParaRPr/>
          </a:p>
        </p:txBody>
      </p:sp>
      <p:sp>
        <p:nvSpPr>
          <p:cNvPr id="239" name="Google Shape;239;h4d99ccb46f147202_1_232"/>
          <p:cNvSpPr txBox="1"/>
          <p:nvPr/>
        </p:nvSpPr>
        <p:spPr>
          <a:xfrm>
            <a:off x="1261872" y="1865376"/>
            <a:ext cx="2496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Example: 2019 indicators → predict 2020 GDP</a:t>
            </a:r>
            <a:endParaRPr/>
          </a:p>
        </p:txBody>
      </p:sp>
      <p:sp>
        <p:nvSpPr>
          <p:cNvPr id="240" name="Google Shape;240;h4d99ccb46f147202_1_232"/>
          <p:cNvSpPr/>
          <p:nvPr/>
        </p:nvSpPr>
        <p:spPr>
          <a:xfrm>
            <a:off x="4187952" y="987552"/>
            <a:ext cx="3246000" cy="1188600"/>
          </a:xfrm>
          <a:prstGeom prst="roundRect">
            <a:avLst>
              <a:gd name="adj" fmla="val 16667"/>
            </a:avLst>
          </a:prstGeom>
          <a:solidFill>
            <a:srgbClr val="F8FAFD"/>
          </a:solidFill>
          <a:ln w="9525" cap="flat" cmpd="sng">
            <a:solidFill>
              <a:srgbClr val="DDE2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h4d99ccb46f147202_1_232"/>
          <p:cNvSpPr/>
          <p:nvPr/>
        </p:nvSpPr>
        <p:spPr>
          <a:xfrm>
            <a:off x="4352544" y="1152144"/>
            <a:ext cx="384000" cy="384000"/>
          </a:xfrm>
          <a:prstGeom prst="ellipse">
            <a:avLst/>
          </a:prstGeom>
          <a:solidFill>
            <a:srgbClr val="E5772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4d99ccb46f147202_1_232"/>
          <p:cNvSpPr txBox="1"/>
          <p:nvPr/>
        </p:nvSpPr>
        <p:spPr>
          <a:xfrm>
            <a:off x="4352544" y="1243584"/>
            <a:ext cx="384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43" name="Google Shape;243;h4d99ccb46f147202_1_232"/>
          <p:cNvSpPr txBox="1"/>
          <p:nvPr/>
        </p:nvSpPr>
        <p:spPr>
          <a:xfrm>
            <a:off x="4846320" y="1170432"/>
            <a:ext cx="24231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Chronological Split</a:t>
            </a:r>
            <a:endParaRPr/>
          </a:p>
        </p:txBody>
      </p:sp>
      <p:sp>
        <p:nvSpPr>
          <p:cNvPr id="244" name="Google Shape;244;h4d99ccb46f147202_1_232"/>
          <p:cNvSpPr txBox="1"/>
          <p:nvPr/>
        </p:nvSpPr>
        <p:spPr>
          <a:xfrm>
            <a:off x="4681695" y="1484980"/>
            <a:ext cx="2423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Train: 2006–2015 = 10 years → 66.7%</a:t>
            </a:r>
            <a:endParaRPr sz="850" b="1">
              <a:solidFill>
                <a:srgbClr val="E577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Validation: 2016–2017 = 2 years → 13.3%</a:t>
            </a:r>
            <a:endParaRPr sz="850" b="1">
              <a:solidFill>
                <a:srgbClr val="E577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Test: 2018–2020 = 3 years → 20%</a:t>
            </a:r>
            <a:endParaRPr sz="850" b="1">
              <a:solidFill>
                <a:srgbClr val="E577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h4d99ccb46f147202_1_232"/>
          <p:cNvSpPr/>
          <p:nvPr/>
        </p:nvSpPr>
        <p:spPr>
          <a:xfrm>
            <a:off x="7735824" y="987552"/>
            <a:ext cx="3246000" cy="1188600"/>
          </a:xfrm>
          <a:prstGeom prst="roundRect">
            <a:avLst>
              <a:gd name="adj" fmla="val 16667"/>
            </a:avLst>
          </a:prstGeom>
          <a:solidFill>
            <a:srgbClr val="F8FAFD"/>
          </a:solidFill>
          <a:ln w="9525" cap="flat" cmpd="sng">
            <a:solidFill>
              <a:srgbClr val="DDE2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h4d99ccb46f147202_1_232"/>
          <p:cNvSpPr/>
          <p:nvPr/>
        </p:nvSpPr>
        <p:spPr>
          <a:xfrm>
            <a:off x="7900416" y="1152144"/>
            <a:ext cx="384000" cy="384000"/>
          </a:xfrm>
          <a:prstGeom prst="ellipse">
            <a:avLst/>
          </a:prstGeom>
          <a:solidFill>
            <a:srgbClr val="6C41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4d99ccb46f147202_1_232"/>
          <p:cNvSpPr txBox="1"/>
          <p:nvPr/>
        </p:nvSpPr>
        <p:spPr>
          <a:xfrm>
            <a:off x="7900416" y="1243584"/>
            <a:ext cx="384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8" name="Google Shape;248;h4d99ccb46f147202_1_232"/>
          <p:cNvSpPr txBox="1"/>
          <p:nvPr/>
        </p:nvSpPr>
        <p:spPr>
          <a:xfrm>
            <a:off x="8394192" y="1170432"/>
            <a:ext cx="24231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Encode Country</a:t>
            </a:r>
            <a:endParaRPr/>
          </a:p>
        </p:txBody>
      </p:sp>
      <p:sp>
        <p:nvSpPr>
          <p:cNvPr id="249" name="Google Shape;249;h4d99ccb46f147202_1_232"/>
          <p:cNvSpPr txBox="1"/>
          <p:nvPr/>
        </p:nvSpPr>
        <p:spPr>
          <a:xfrm>
            <a:off x="8394192" y="1554480"/>
            <a:ext cx="2423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One-Hot Encoding</a:t>
            </a:r>
            <a:endParaRPr/>
          </a:p>
        </p:txBody>
      </p:sp>
      <p:sp>
        <p:nvSpPr>
          <p:cNvPr id="250" name="Google Shape;250;h4d99ccb46f147202_1_232"/>
          <p:cNvSpPr txBox="1"/>
          <p:nvPr/>
        </p:nvSpPr>
        <p:spPr>
          <a:xfrm>
            <a:off x="8357616" y="1865376"/>
            <a:ext cx="2496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Include country information without numeric ranking</a:t>
            </a:r>
            <a:endParaRPr/>
          </a:p>
        </p:txBody>
      </p:sp>
      <p:sp>
        <p:nvSpPr>
          <p:cNvPr id="251" name="Google Shape;251;h4d99ccb46f147202_1_232"/>
          <p:cNvSpPr/>
          <p:nvPr/>
        </p:nvSpPr>
        <p:spPr>
          <a:xfrm>
            <a:off x="640080" y="2395728"/>
            <a:ext cx="10341900" cy="640200"/>
          </a:xfrm>
          <a:prstGeom prst="roundRect">
            <a:avLst>
              <a:gd name="adj" fmla="val 16667"/>
            </a:avLst>
          </a:prstGeom>
          <a:solidFill>
            <a:srgbClr val="F3F9F6"/>
          </a:solidFill>
          <a:ln w="9525" cap="flat" cmpd="sng">
            <a:solidFill>
              <a:srgbClr val="CAE0D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h4d99ccb46f147202_1_232"/>
          <p:cNvSpPr/>
          <p:nvPr/>
        </p:nvSpPr>
        <p:spPr>
          <a:xfrm>
            <a:off x="804672" y="2523744"/>
            <a:ext cx="384000" cy="384000"/>
          </a:xfrm>
          <a:prstGeom prst="ellipse">
            <a:avLst/>
          </a:prstGeom>
          <a:solidFill>
            <a:srgbClr val="378F5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h4d99ccb46f147202_1_232"/>
          <p:cNvSpPr txBox="1"/>
          <p:nvPr/>
        </p:nvSpPr>
        <p:spPr>
          <a:xfrm>
            <a:off x="804672" y="2615184"/>
            <a:ext cx="384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4" name="Google Shape;254;h4d99ccb46f147202_1_232"/>
          <p:cNvSpPr txBox="1"/>
          <p:nvPr/>
        </p:nvSpPr>
        <p:spPr>
          <a:xfrm>
            <a:off x="1353312" y="2523744"/>
            <a:ext cx="23775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Handle Missing Predictors</a:t>
            </a:r>
            <a:endParaRPr/>
          </a:p>
        </p:txBody>
      </p:sp>
      <p:sp>
        <p:nvSpPr>
          <p:cNvPr id="255" name="Google Shape;255;h4d99ccb46f147202_1_232"/>
          <p:cNvSpPr txBox="1"/>
          <p:nvPr/>
        </p:nvSpPr>
        <p:spPr>
          <a:xfrm>
            <a:off x="1353312" y="2788920"/>
            <a:ext cx="11430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Missing Indicator</a:t>
            </a:r>
            <a:endParaRPr/>
          </a:p>
        </p:txBody>
      </p:sp>
      <p:sp>
        <p:nvSpPr>
          <p:cNvPr id="256" name="Google Shape;256;h4d99ccb46f147202_1_232"/>
          <p:cNvSpPr txBox="1"/>
          <p:nvPr/>
        </p:nvSpPr>
        <p:spPr>
          <a:xfrm>
            <a:off x="2514600" y="2788920"/>
            <a:ext cx="9600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325BE1"/>
                </a:solidFill>
                <a:latin typeface="Calibri"/>
                <a:ea typeface="Calibri"/>
                <a:cs typeface="Calibri"/>
                <a:sym typeface="Calibri"/>
              </a:rPr>
              <a:t>+ Forward Fill</a:t>
            </a:r>
            <a:endParaRPr/>
          </a:p>
        </p:txBody>
      </p:sp>
      <p:sp>
        <p:nvSpPr>
          <p:cNvPr id="257" name="Google Shape;257;h4d99ccb46f147202_1_232"/>
          <p:cNvSpPr txBox="1"/>
          <p:nvPr/>
        </p:nvSpPr>
        <p:spPr>
          <a:xfrm>
            <a:off x="3520440" y="2788920"/>
            <a:ext cx="11886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+ Training Median</a:t>
            </a:r>
            <a:endParaRPr/>
          </a:p>
        </p:txBody>
      </p:sp>
      <p:sp>
        <p:nvSpPr>
          <p:cNvPr id="258" name="Google Shape;258;h4d99ccb46f147202_1_232"/>
          <p:cNvSpPr txBox="1"/>
          <p:nvPr/>
        </p:nvSpPr>
        <p:spPr>
          <a:xfrm>
            <a:off x="4773168" y="2788920"/>
            <a:ext cx="11886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BE3737"/>
                </a:solidFill>
                <a:latin typeface="Calibri"/>
                <a:ea typeface="Calibri"/>
                <a:cs typeface="Calibri"/>
                <a:sym typeface="Calibri"/>
              </a:rPr>
              <a:t>+ Leakage Control</a:t>
            </a:r>
            <a:endParaRPr/>
          </a:p>
        </p:txBody>
      </p:sp>
      <p:sp>
        <p:nvSpPr>
          <p:cNvPr id="259" name="Google Shape;259;h4d99ccb46f147202_1_232"/>
          <p:cNvSpPr txBox="1"/>
          <p:nvPr/>
        </p:nvSpPr>
        <p:spPr>
          <a:xfrm>
            <a:off x="6492240" y="2779776"/>
            <a:ext cx="40965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44 inputs entering feature selection = 24 original + 20 missing indicators</a:t>
            </a:r>
            <a:endParaRPr/>
          </a:p>
        </p:txBody>
      </p:sp>
      <p:sp>
        <p:nvSpPr>
          <p:cNvPr id="260" name="Google Shape;260;h4d99ccb46f147202_1_232"/>
          <p:cNvSpPr/>
          <p:nvPr/>
        </p:nvSpPr>
        <p:spPr>
          <a:xfrm>
            <a:off x="640080" y="3246120"/>
            <a:ext cx="10341900" cy="3154800"/>
          </a:xfrm>
          <a:prstGeom prst="roundRect">
            <a:avLst>
              <a:gd name="adj" fmla="val 16667"/>
            </a:avLst>
          </a:prstGeom>
          <a:solidFill>
            <a:srgbClr val="F8F5FD"/>
          </a:solidFill>
          <a:ln w="9525" cap="flat" cmpd="sng">
            <a:solidFill>
              <a:srgbClr val="8F65D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h4d99ccb46f147202_1_232"/>
          <p:cNvSpPr/>
          <p:nvPr/>
        </p:nvSpPr>
        <p:spPr>
          <a:xfrm>
            <a:off x="804672" y="3419856"/>
            <a:ext cx="384000" cy="384000"/>
          </a:xfrm>
          <a:prstGeom prst="ellipse">
            <a:avLst/>
          </a:prstGeom>
          <a:solidFill>
            <a:srgbClr val="6C41B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h4d99ccb46f147202_1_232"/>
          <p:cNvSpPr txBox="1"/>
          <p:nvPr/>
        </p:nvSpPr>
        <p:spPr>
          <a:xfrm>
            <a:off x="804672" y="3511296"/>
            <a:ext cx="384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3" name="Google Shape;263;h4d99ccb46f147202_1_232"/>
          <p:cNvSpPr txBox="1"/>
          <p:nvPr/>
        </p:nvSpPr>
        <p:spPr>
          <a:xfrm>
            <a:off x="1353312" y="3410712"/>
            <a:ext cx="4572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Feature Selection: Compare Top-Ranked Feature Sets</a:t>
            </a:r>
            <a:endParaRPr/>
          </a:p>
        </p:txBody>
      </p:sp>
      <p:sp>
        <p:nvSpPr>
          <p:cNvPr id="264" name="Google Shape;264;h4d99ccb46f147202_1_232"/>
          <p:cNvSpPr txBox="1"/>
          <p:nvPr/>
        </p:nvSpPr>
        <p:spPr>
          <a:xfrm>
            <a:off x="1353312" y="3703320"/>
            <a:ext cx="4480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Chronological validation using predictor years 2016–2017</a:t>
            </a:r>
            <a:endParaRPr/>
          </a:p>
        </p:txBody>
      </p:sp>
      <p:sp>
        <p:nvSpPr>
          <p:cNvPr id="265" name="Google Shape;265;h4d99ccb46f147202_1_232"/>
          <p:cNvSpPr txBox="1"/>
          <p:nvPr/>
        </p:nvSpPr>
        <p:spPr>
          <a:xfrm>
            <a:off x="960120" y="4096512"/>
            <a:ext cx="9144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Feature set</a:t>
            </a:r>
            <a:endParaRPr/>
          </a:p>
        </p:txBody>
      </p:sp>
      <p:sp>
        <p:nvSpPr>
          <p:cNvPr id="266" name="Google Shape;266;h4d99ccb46f147202_1_232"/>
          <p:cNvSpPr txBox="1"/>
          <p:nvPr/>
        </p:nvSpPr>
        <p:spPr>
          <a:xfrm>
            <a:off x="2148840" y="4096512"/>
            <a:ext cx="685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 ↓</a:t>
            </a:r>
            <a:endParaRPr/>
          </a:p>
        </p:txBody>
      </p:sp>
      <p:sp>
        <p:nvSpPr>
          <p:cNvPr id="267" name="Google Shape;267;h4d99ccb46f147202_1_232"/>
          <p:cNvSpPr txBox="1"/>
          <p:nvPr/>
        </p:nvSpPr>
        <p:spPr>
          <a:xfrm>
            <a:off x="2990088" y="4096512"/>
            <a:ext cx="777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 ↓</a:t>
            </a:r>
            <a:endParaRPr/>
          </a:p>
        </p:txBody>
      </p:sp>
      <p:sp>
        <p:nvSpPr>
          <p:cNvPr id="268" name="Google Shape;268;h4d99ccb46f147202_1_232"/>
          <p:cNvSpPr txBox="1"/>
          <p:nvPr/>
        </p:nvSpPr>
        <p:spPr>
          <a:xfrm>
            <a:off x="3995928" y="4096512"/>
            <a:ext cx="567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R² ↑</a:t>
            </a:r>
            <a:endParaRPr/>
          </a:p>
        </p:txBody>
      </p:sp>
      <p:sp>
        <p:nvSpPr>
          <p:cNvPr id="269" name="Google Shape;269;h4d99ccb46f147202_1_232"/>
          <p:cNvSpPr txBox="1"/>
          <p:nvPr/>
        </p:nvSpPr>
        <p:spPr>
          <a:xfrm>
            <a:off x="987552" y="4370832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Top 3</a:t>
            </a:r>
            <a:endParaRPr/>
          </a:p>
        </p:txBody>
      </p:sp>
      <p:sp>
        <p:nvSpPr>
          <p:cNvPr id="270" name="Google Shape;270;h4d99ccb46f147202_1_232"/>
          <p:cNvSpPr txBox="1"/>
          <p:nvPr/>
        </p:nvSpPr>
        <p:spPr>
          <a:xfrm>
            <a:off x="2103120" y="4370832"/>
            <a:ext cx="7131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666.04</a:t>
            </a:r>
            <a:endParaRPr/>
          </a:p>
        </p:txBody>
      </p:sp>
      <p:sp>
        <p:nvSpPr>
          <p:cNvPr id="271" name="Google Shape;271;h4d99ccb46f147202_1_232"/>
          <p:cNvSpPr txBox="1"/>
          <p:nvPr/>
        </p:nvSpPr>
        <p:spPr>
          <a:xfrm>
            <a:off x="2944368" y="4370832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1,325.12</a:t>
            </a:r>
            <a:endParaRPr/>
          </a:p>
        </p:txBody>
      </p:sp>
      <p:sp>
        <p:nvSpPr>
          <p:cNvPr id="272" name="Google Shape;272;h4d99ccb46f147202_1_232"/>
          <p:cNvSpPr txBox="1"/>
          <p:nvPr/>
        </p:nvSpPr>
        <p:spPr>
          <a:xfrm>
            <a:off x="3977639" y="4370832"/>
            <a:ext cx="567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.9974</a:t>
            </a:r>
            <a:endParaRPr/>
          </a:p>
        </p:txBody>
      </p:sp>
      <p:sp>
        <p:nvSpPr>
          <p:cNvPr id="273" name="Google Shape;273;h4d99ccb46f147202_1_232"/>
          <p:cNvSpPr txBox="1"/>
          <p:nvPr/>
        </p:nvSpPr>
        <p:spPr>
          <a:xfrm>
            <a:off x="987552" y="4681728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Top 5</a:t>
            </a:r>
            <a:endParaRPr/>
          </a:p>
        </p:txBody>
      </p:sp>
      <p:sp>
        <p:nvSpPr>
          <p:cNvPr id="274" name="Google Shape;274;h4d99ccb46f147202_1_232"/>
          <p:cNvSpPr txBox="1"/>
          <p:nvPr/>
        </p:nvSpPr>
        <p:spPr>
          <a:xfrm>
            <a:off x="2103120" y="4681728"/>
            <a:ext cx="7131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642.86</a:t>
            </a:r>
            <a:endParaRPr/>
          </a:p>
        </p:txBody>
      </p:sp>
      <p:sp>
        <p:nvSpPr>
          <p:cNvPr id="275" name="Google Shape;275;h4d99ccb46f147202_1_232"/>
          <p:cNvSpPr txBox="1"/>
          <p:nvPr/>
        </p:nvSpPr>
        <p:spPr>
          <a:xfrm>
            <a:off x="2944368" y="4681728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1,278.51</a:t>
            </a:r>
            <a:endParaRPr/>
          </a:p>
        </p:txBody>
      </p:sp>
      <p:sp>
        <p:nvSpPr>
          <p:cNvPr id="276" name="Google Shape;276;h4d99ccb46f147202_1_232"/>
          <p:cNvSpPr txBox="1"/>
          <p:nvPr/>
        </p:nvSpPr>
        <p:spPr>
          <a:xfrm>
            <a:off x="3977639" y="4681728"/>
            <a:ext cx="567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.9976</a:t>
            </a:r>
            <a:endParaRPr/>
          </a:p>
        </p:txBody>
      </p:sp>
      <p:sp>
        <p:nvSpPr>
          <p:cNvPr id="277" name="Google Shape;277;h4d99ccb46f147202_1_232"/>
          <p:cNvSpPr/>
          <p:nvPr/>
        </p:nvSpPr>
        <p:spPr>
          <a:xfrm>
            <a:off x="877824" y="4928616"/>
            <a:ext cx="3767400" cy="283500"/>
          </a:xfrm>
          <a:prstGeom prst="roundRect">
            <a:avLst>
              <a:gd name="adj" fmla="val 16667"/>
            </a:avLst>
          </a:prstGeom>
          <a:solidFill>
            <a:srgbClr val="E7F6EC"/>
          </a:solidFill>
          <a:ln w="9525" cap="flat" cmpd="sng">
            <a:solidFill>
              <a:srgbClr val="C7E3D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4d99ccb46f147202_1_232"/>
          <p:cNvSpPr txBox="1"/>
          <p:nvPr/>
        </p:nvSpPr>
        <p:spPr>
          <a:xfrm>
            <a:off x="987552" y="4992624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Top 10</a:t>
            </a:r>
            <a:endParaRPr/>
          </a:p>
        </p:txBody>
      </p:sp>
      <p:sp>
        <p:nvSpPr>
          <p:cNvPr id="279" name="Google Shape;279;h4d99ccb46f147202_1_232"/>
          <p:cNvSpPr txBox="1"/>
          <p:nvPr/>
        </p:nvSpPr>
        <p:spPr>
          <a:xfrm>
            <a:off x="2103120" y="4992624"/>
            <a:ext cx="7131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582.29</a:t>
            </a:r>
            <a:endParaRPr/>
          </a:p>
        </p:txBody>
      </p:sp>
      <p:sp>
        <p:nvSpPr>
          <p:cNvPr id="280" name="Google Shape;280;h4d99ccb46f147202_1_232"/>
          <p:cNvSpPr txBox="1"/>
          <p:nvPr/>
        </p:nvSpPr>
        <p:spPr>
          <a:xfrm>
            <a:off x="2944368" y="4992624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1,216.47</a:t>
            </a:r>
            <a:endParaRPr/>
          </a:p>
        </p:txBody>
      </p:sp>
      <p:sp>
        <p:nvSpPr>
          <p:cNvPr id="281" name="Google Shape;281;h4d99ccb46f147202_1_232"/>
          <p:cNvSpPr txBox="1"/>
          <p:nvPr/>
        </p:nvSpPr>
        <p:spPr>
          <a:xfrm>
            <a:off x="3977639" y="4992624"/>
            <a:ext cx="567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.9978</a:t>
            </a:r>
            <a:endParaRPr/>
          </a:p>
        </p:txBody>
      </p:sp>
      <p:sp>
        <p:nvSpPr>
          <p:cNvPr id="282" name="Google Shape;282;h4d99ccb46f147202_1_232"/>
          <p:cNvSpPr txBox="1"/>
          <p:nvPr/>
        </p:nvSpPr>
        <p:spPr>
          <a:xfrm>
            <a:off x="987552" y="5303520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Top 15</a:t>
            </a:r>
            <a:endParaRPr/>
          </a:p>
        </p:txBody>
      </p:sp>
      <p:sp>
        <p:nvSpPr>
          <p:cNvPr id="283" name="Google Shape;283;h4d99ccb46f147202_1_232"/>
          <p:cNvSpPr txBox="1"/>
          <p:nvPr/>
        </p:nvSpPr>
        <p:spPr>
          <a:xfrm>
            <a:off x="2103120" y="5303520"/>
            <a:ext cx="7131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618.88</a:t>
            </a:r>
            <a:endParaRPr/>
          </a:p>
        </p:txBody>
      </p:sp>
      <p:sp>
        <p:nvSpPr>
          <p:cNvPr id="284" name="Google Shape;284;h4d99ccb46f147202_1_232"/>
          <p:cNvSpPr txBox="1"/>
          <p:nvPr/>
        </p:nvSpPr>
        <p:spPr>
          <a:xfrm>
            <a:off x="2944368" y="5303520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1,323.24</a:t>
            </a:r>
            <a:endParaRPr/>
          </a:p>
        </p:txBody>
      </p:sp>
      <p:sp>
        <p:nvSpPr>
          <p:cNvPr id="285" name="Google Shape;285;h4d99ccb46f147202_1_232"/>
          <p:cNvSpPr txBox="1"/>
          <p:nvPr/>
        </p:nvSpPr>
        <p:spPr>
          <a:xfrm>
            <a:off x="3977639" y="5303520"/>
            <a:ext cx="567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.9974</a:t>
            </a:r>
            <a:endParaRPr/>
          </a:p>
        </p:txBody>
      </p:sp>
      <p:sp>
        <p:nvSpPr>
          <p:cNvPr id="286" name="Google Shape;286;h4d99ccb46f147202_1_232"/>
          <p:cNvSpPr txBox="1"/>
          <p:nvPr/>
        </p:nvSpPr>
        <p:spPr>
          <a:xfrm>
            <a:off x="987552" y="5614416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Top 20</a:t>
            </a:r>
            <a:endParaRPr/>
          </a:p>
        </p:txBody>
      </p:sp>
      <p:sp>
        <p:nvSpPr>
          <p:cNvPr id="287" name="Google Shape;287;h4d99ccb46f147202_1_232"/>
          <p:cNvSpPr txBox="1"/>
          <p:nvPr/>
        </p:nvSpPr>
        <p:spPr>
          <a:xfrm>
            <a:off x="2103120" y="5614416"/>
            <a:ext cx="7131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623.71</a:t>
            </a:r>
            <a:endParaRPr/>
          </a:p>
        </p:txBody>
      </p:sp>
      <p:sp>
        <p:nvSpPr>
          <p:cNvPr id="288" name="Google Shape;288;h4d99ccb46f147202_1_232"/>
          <p:cNvSpPr txBox="1"/>
          <p:nvPr/>
        </p:nvSpPr>
        <p:spPr>
          <a:xfrm>
            <a:off x="2944368" y="5614416"/>
            <a:ext cx="822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1,276.65</a:t>
            </a:r>
            <a:endParaRPr/>
          </a:p>
        </p:txBody>
      </p:sp>
      <p:sp>
        <p:nvSpPr>
          <p:cNvPr id="289" name="Google Shape;289;h4d99ccb46f147202_1_232"/>
          <p:cNvSpPr txBox="1"/>
          <p:nvPr/>
        </p:nvSpPr>
        <p:spPr>
          <a:xfrm>
            <a:off x="3977639" y="5614416"/>
            <a:ext cx="567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.9976</a:t>
            </a:r>
            <a:endParaRPr/>
          </a:p>
        </p:txBody>
      </p:sp>
      <p:sp>
        <p:nvSpPr>
          <p:cNvPr id="290" name="Google Shape;290;h4d99ccb46f147202_1_232"/>
          <p:cNvSpPr txBox="1"/>
          <p:nvPr/>
        </p:nvSpPr>
        <p:spPr>
          <a:xfrm>
            <a:off x="969264" y="5971032"/>
            <a:ext cx="14172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→ Top 10 selected</a:t>
            </a:r>
            <a:endParaRPr/>
          </a:p>
        </p:txBody>
      </p:sp>
      <p:sp>
        <p:nvSpPr>
          <p:cNvPr id="291" name="Google Shape;291;h4d99ccb46f147202_1_232"/>
          <p:cNvSpPr txBox="1"/>
          <p:nvPr/>
        </p:nvSpPr>
        <p:spPr>
          <a:xfrm>
            <a:off x="2331720" y="5971032"/>
            <a:ext cx="16002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9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Lowest MAE = 582.29</a:t>
            </a:r>
            <a:endParaRPr/>
          </a:p>
        </p:txBody>
      </p:sp>
      <p:sp>
        <p:nvSpPr>
          <p:cNvPr id="292" name="Google Shape;292;h4d99ccb46f147202_1_232"/>
          <p:cNvSpPr/>
          <p:nvPr/>
        </p:nvSpPr>
        <p:spPr>
          <a:xfrm>
            <a:off x="4919472" y="4023360"/>
            <a:ext cx="2770500" cy="2039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h4d99ccb46f147202_1_232"/>
          <p:cNvSpPr txBox="1"/>
          <p:nvPr/>
        </p:nvSpPr>
        <p:spPr>
          <a:xfrm>
            <a:off x="5120640" y="4233672"/>
            <a:ext cx="23775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Missing-Indicator Check</a:t>
            </a:r>
            <a:endParaRPr/>
          </a:p>
        </p:txBody>
      </p:sp>
      <p:sp>
        <p:nvSpPr>
          <p:cNvPr id="294" name="Google Shape;294;h4d99ccb46f147202_1_232"/>
          <p:cNvSpPr txBox="1"/>
          <p:nvPr/>
        </p:nvSpPr>
        <p:spPr>
          <a:xfrm>
            <a:off x="5120640" y="4681728"/>
            <a:ext cx="1234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Top 10 only</a:t>
            </a:r>
            <a:endParaRPr/>
          </a:p>
        </p:txBody>
      </p:sp>
      <p:sp>
        <p:nvSpPr>
          <p:cNvPr id="295" name="Google Shape;295;h4d99ccb46f147202_1_232"/>
          <p:cNvSpPr txBox="1"/>
          <p:nvPr/>
        </p:nvSpPr>
        <p:spPr>
          <a:xfrm>
            <a:off x="6419088" y="4681728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MAE 626.29</a:t>
            </a:r>
            <a:endParaRPr/>
          </a:p>
        </p:txBody>
      </p:sp>
      <p:sp>
        <p:nvSpPr>
          <p:cNvPr id="296" name="Google Shape;296;h4d99ccb46f147202_1_232"/>
          <p:cNvSpPr txBox="1"/>
          <p:nvPr/>
        </p:nvSpPr>
        <p:spPr>
          <a:xfrm>
            <a:off x="5120640" y="5056632"/>
            <a:ext cx="1326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Top 10 + flags</a:t>
            </a:r>
            <a:endParaRPr/>
          </a:p>
        </p:txBody>
      </p:sp>
      <p:sp>
        <p:nvSpPr>
          <p:cNvPr id="297" name="Google Shape;297;h4d99ccb46f147202_1_232"/>
          <p:cNvSpPr txBox="1"/>
          <p:nvPr/>
        </p:nvSpPr>
        <p:spPr>
          <a:xfrm>
            <a:off x="6419088" y="5056632"/>
            <a:ext cx="960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MAE 581.39</a:t>
            </a:r>
            <a:endParaRPr/>
          </a:p>
        </p:txBody>
      </p:sp>
      <p:sp>
        <p:nvSpPr>
          <p:cNvPr id="298" name="Google Shape;298;h4d99ccb46f147202_1_232"/>
          <p:cNvSpPr txBox="1"/>
          <p:nvPr/>
        </p:nvSpPr>
        <p:spPr>
          <a:xfrm>
            <a:off x="5120640" y="5431536"/>
            <a:ext cx="14172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RMSE = 1,201.66</a:t>
            </a:r>
            <a:endParaRPr/>
          </a:p>
        </p:txBody>
      </p:sp>
      <p:sp>
        <p:nvSpPr>
          <p:cNvPr id="299" name="Google Shape;299;h4d99ccb46f147202_1_232"/>
          <p:cNvSpPr txBox="1"/>
          <p:nvPr/>
        </p:nvSpPr>
        <p:spPr>
          <a:xfrm>
            <a:off x="6473952" y="5431536"/>
            <a:ext cx="914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R² = .9978</a:t>
            </a:r>
            <a:endParaRPr/>
          </a:p>
        </p:txBody>
      </p:sp>
      <p:sp>
        <p:nvSpPr>
          <p:cNvPr id="300" name="Google Shape;300;h4d99ccb46f147202_1_232"/>
          <p:cNvSpPr txBox="1"/>
          <p:nvPr/>
        </p:nvSpPr>
        <p:spPr>
          <a:xfrm>
            <a:off x="5120640" y="5806440"/>
            <a:ext cx="2267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→ Keep 7 missing indicators</a:t>
            </a:r>
            <a:endParaRPr/>
          </a:p>
        </p:txBody>
      </p:sp>
      <p:sp>
        <p:nvSpPr>
          <p:cNvPr id="301" name="Google Shape;301;h4d99ccb46f147202_1_232"/>
          <p:cNvSpPr/>
          <p:nvPr/>
        </p:nvSpPr>
        <p:spPr>
          <a:xfrm>
            <a:off x="7936992" y="4023360"/>
            <a:ext cx="2724900" cy="20391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h4d99ccb46f147202_1_232"/>
          <p:cNvSpPr txBox="1"/>
          <p:nvPr/>
        </p:nvSpPr>
        <p:spPr>
          <a:xfrm>
            <a:off x="8174736" y="4224528"/>
            <a:ext cx="22404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Final Feature Reduction</a:t>
            </a:r>
            <a:endParaRPr/>
          </a:p>
        </p:txBody>
      </p:sp>
      <p:sp>
        <p:nvSpPr>
          <p:cNvPr id="303" name="Google Shape;303;h4d99ccb46f147202_1_232"/>
          <p:cNvSpPr txBox="1"/>
          <p:nvPr/>
        </p:nvSpPr>
        <p:spPr>
          <a:xfrm>
            <a:off x="8174736" y="4599432"/>
            <a:ext cx="2240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44 VARIABLES</a:t>
            </a:r>
            <a:endParaRPr/>
          </a:p>
        </p:txBody>
      </p:sp>
      <p:sp>
        <p:nvSpPr>
          <p:cNvPr id="304" name="Google Shape;304;h4d99ccb46f147202_1_232"/>
          <p:cNvSpPr txBox="1"/>
          <p:nvPr/>
        </p:nvSpPr>
        <p:spPr>
          <a:xfrm>
            <a:off x="8174736" y="4855464"/>
            <a:ext cx="2240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24 original + 20 missing indicators</a:t>
            </a:r>
            <a:endParaRPr/>
          </a:p>
        </p:txBody>
      </p:sp>
      <p:sp>
        <p:nvSpPr>
          <p:cNvPr id="305" name="Google Shape;305;h4d99ccb46f147202_1_232"/>
          <p:cNvSpPr txBox="1"/>
          <p:nvPr/>
        </p:nvSpPr>
        <p:spPr>
          <a:xfrm>
            <a:off x="8174736" y="5093208"/>
            <a:ext cx="2240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306" name="Google Shape;306;h4d99ccb46f147202_1_232"/>
          <p:cNvSpPr txBox="1"/>
          <p:nvPr/>
        </p:nvSpPr>
        <p:spPr>
          <a:xfrm>
            <a:off x="8174736" y="5340096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17 VARIABLES</a:t>
            </a:r>
            <a:endParaRPr/>
          </a:p>
        </p:txBody>
      </p:sp>
      <p:sp>
        <p:nvSpPr>
          <p:cNvPr id="307" name="Google Shape;307;h4d99ccb46f147202_1_232"/>
          <p:cNvSpPr txBox="1"/>
          <p:nvPr/>
        </p:nvSpPr>
        <p:spPr>
          <a:xfrm>
            <a:off x="8174736" y="5614416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10 original + 7 missing indicators</a:t>
            </a:r>
            <a:endParaRPr/>
          </a:p>
        </p:txBody>
      </p:sp>
      <p:sp>
        <p:nvSpPr>
          <p:cNvPr id="308" name="Google Shape;308;h4d99ccb46f147202_1_232"/>
          <p:cNvSpPr txBox="1"/>
          <p:nvPr/>
        </p:nvSpPr>
        <p:spPr>
          <a:xfrm>
            <a:off x="8174736" y="5897880"/>
            <a:ext cx="22404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27 fewer inputs • 61.4% reduction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4d99ccb46f147202_1_384"/>
          <p:cNvSpPr txBox="1"/>
          <p:nvPr/>
        </p:nvSpPr>
        <p:spPr>
          <a:xfrm>
            <a:off x="566928" y="256032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-US" sz="280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Model Performance: Baseline → Tuning → Optimization</a:t>
            </a:r>
            <a:endParaRPr sz="2800"/>
          </a:p>
        </p:txBody>
      </p:sp>
      <p:sp>
        <p:nvSpPr>
          <p:cNvPr id="314" name="Google Shape;314;h4d99ccb46f147202_1_384"/>
          <p:cNvSpPr/>
          <p:nvPr/>
        </p:nvSpPr>
        <p:spPr>
          <a:xfrm>
            <a:off x="563715" y="874350"/>
            <a:ext cx="3794700" cy="4590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h4d99ccb46f147202_1_384"/>
          <p:cNvSpPr txBox="1"/>
          <p:nvPr/>
        </p:nvSpPr>
        <p:spPr>
          <a:xfrm>
            <a:off x="819747" y="1121238"/>
            <a:ext cx="3108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325BE1"/>
                </a:solidFill>
                <a:latin typeface="Calibri"/>
                <a:ea typeface="Calibri"/>
                <a:cs typeface="Calibri"/>
                <a:sym typeface="Calibri"/>
              </a:rPr>
              <a:t>1  BASELINE MODELS</a:t>
            </a:r>
            <a:endParaRPr/>
          </a:p>
        </p:txBody>
      </p:sp>
      <p:sp>
        <p:nvSpPr>
          <p:cNvPr id="316" name="Google Shape;316;h4d99ccb46f147202_1_384"/>
          <p:cNvSpPr txBox="1"/>
          <p:nvPr/>
        </p:nvSpPr>
        <p:spPr>
          <a:xfrm>
            <a:off x="819747" y="1441278"/>
            <a:ext cx="301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Compare all 4 models on validation data</a:t>
            </a:r>
            <a:endParaRPr/>
          </a:p>
        </p:txBody>
      </p:sp>
      <p:sp>
        <p:nvSpPr>
          <p:cNvPr id="317" name="Google Shape;317;h4d99ccb46f147202_1_384"/>
          <p:cNvSpPr txBox="1"/>
          <p:nvPr/>
        </p:nvSpPr>
        <p:spPr>
          <a:xfrm>
            <a:off x="819748" y="1816181"/>
            <a:ext cx="12801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318" name="Google Shape;318;h4d99ccb46f147202_1_384"/>
          <p:cNvSpPr txBox="1"/>
          <p:nvPr/>
        </p:nvSpPr>
        <p:spPr>
          <a:xfrm>
            <a:off x="2209636" y="1816181"/>
            <a:ext cx="6585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 ↓</a:t>
            </a:r>
            <a:endParaRPr/>
          </a:p>
        </p:txBody>
      </p:sp>
      <p:sp>
        <p:nvSpPr>
          <p:cNvPr id="319" name="Google Shape;319;h4d99ccb46f147202_1_384"/>
          <p:cNvSpPr txBox="1"/>
          <p:nvPr/>
        </p:nvSpPr>
        <p:spPr>
          <a:xfrm>
            <a:off x="2941156" y="1816181"/>
            <a:ext cx="804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 ↓</a:t>
            </a:r>
            <a:endParaRPr/>
          </a:p>
        </p:txBody>
      </p:sp>
      <p:sp>
        <p:nvSpPr>
          <p:cNvPr id="320" name="Google Shape;320;h4d99ccb46f147202_1_384"/>
          <p:cNvSpPr txBox="1"/>
          <p:nvPr/>
        </p:nvSpPr>
        <p:spPr>
          <a:xfrm>
            <a:off x="3648073" y="1816175"/>
            <a:ext cx="536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R² ↑</a:t>
            </a:r>
            <a:endParaRPr/>
          </a:p>
        </p:txBody>
      </p:sp>
      <p:sp>
        <p:nvSpPr>
          <p:cNvPr id="321" name="Google Shape;321;h4d99ccb46f147202_1_384"/>
          <p:cNvSpPr txBox="1"/>
          <p:nvPr/>
        </p:nvSpPr>
        <p:spPr>
          <a:xfrm>
            <a:off x="838036" y="2181942"/>
            <a:ext cx="1326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322" name="Google Shape;322;h4d99ccb46f147202_1_384"/>
          <p:cNvSpPr txBox="1"/>
          <p:nvPr/>
        </p:nvSpPr>
        <p:spPr>
          <a:xfrm>
            <a:off x="2173060" y="2181942"/>
            <a:ext cx="6948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948.53</a:t>
            </a:r>
            <a:endParaRPr/>
          </a:p>
        </p:txBody>
      </p:sp>
      <p:sp>
        <p:nvSpPr>
          <p:cNvPr id="323" name="Google Shape;323;h4d99ccb46f147202_1_384"/>
          <p:cNvSpPr txBox="1"/>
          <p:nvPr/>
        </p:nvSpPr>
        <p:spPr>
          <a:xfrm>
            <a:off x="2904580" y="2181942"/>
            <a:ext cx="8412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2,233.23</a:t>
            </a:r>
            <a:endParaRPr/>
          </a:p>
        </p:txBody>
      </p:sp>
      <p:sp>
        <p:nvSpPr>
          <p:cNvPr id="324" name="Google Shape;324;h4d99ccb46f147202_1_384"/>
          <p:cNvSpPr txBox="1"/>
          <p:nvPr/>
        </p:nvSpPr>
        <p:spPr>
          <a:xfrm>
            <a:off x="3636148" y="2181937"/>
            <a:ext cx="5484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.9925</a:t>
            </a:r>
            <a:endParaRPr/>
          </a:p>
        </p:txBody>
      </p:sp>
      <p:sp>
        <p:nvSpPr>
          <p:cNvPr id="325" name="Google Shape;325;h4d99ccb46f147202_1_384"/>
          <p:cNvSpPr/>
          <p:nvPr/>
        </p:nvSpPr>
        <p:spPr>
          <a:xfrm>
            <a:off x="746596" y="2602566"/>
            <a:ext cx="3492900" cy="365700"/>
          </a:xfrm>
          <a:prstGeom prst="roundRect">
            <a:avLst>
              <a:gd name="adj" fmla="val 16667"/>
            </a:avLst>
          </a:prstGeom>
          <a:solidFill>
            <a:srgbClr val="EBF8EF"/>
          </a:solidFill>
          <a:ln w="9525" cap="flat" cmpd="sng">
            <a:solidFill>
              <a:srgbClr val="C8E2D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h4d99ccb46f147202_1_384"/>
          <p:cNvSpPr txBox="1"/>
          <p:nvPr/>
        </p:nvSpPr>
        <p:spPr>
          <a:xfrm>
            <a:off x="838036" y="2684862"/>
            <a:ext cx="1326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Random Forest ✓</a:t>
            </a:r>
            <a:endParaRPr/>
          </a:p>
        </p:txBody>
      </p:sp>
      <p:sp>
        <p:nvSpPr>
          <p:cNvPr id="327" name="Google Shape;327;h4d99ccb46f147202_1_384"/>
          <p:cNvSpPr txBox="1"/>
          <p:nvPr/>
        </p:nvSpPr>
        <p:spPr>
          <a:xfrm>
            <a:off x="2173060" y="2684862"/>
            <a:ext cx="6948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590.61</a:t>
            </a:r>
            <a:endParaRPr/>
          </a:p>
        </p:txBody>
      </p:sp>
      <p:sp>
        <p:nvSpPr>
          <p:cNvPr id="328" name="Google Shape;328;h4d99ccb46f147202_1_384"/>
          <p:cNvSpPr txBox="1"/>
          <p:nvPr/>
        </p:nvSpPr>
        <p:spPr>
          <a:xfrm>
            <a:off x="2904580" y="2684862"/>
            <a:ext cx="8412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1,228.36</a:t>
            </a:r>
            <a:endParaRPr/>
          </a:p>
        </p:txBody>
      </p:sp>
      <p:sp>
        <p:nvSpPr>
          <p:cNvPr id="329" name="Google Shape;329;h4d99ccb46f147202_1_384"/>
          <p:cNvSpPr txBox="1"/>
          <p:nvPr/>
        </p:nvSpPr>
        <p:spPr>
          <a:xfrm>
            <a:off x="3636148" y="2684858"/>
            <a:ext cx="5484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.9977</a:t>
            </a:r>
            <a:endParaRPr/>
          </a:p>
        </p:txBody>
      </p:sp>
      <p:sp>
        <p:nvSpPr>
          <p:cNvPr id="330" name="Google Shape;330;h4d99ccb46f147202_1_384"/>
          <p:cNvSpPr txBox="1"/>
          <p:nvPr/>
        </p:nvSpPr>
        <p:spPr>
          <a:xfrm>
            <a:off x="838036" y="3187782"/>
            <a:ext cx="1326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325BE1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/>
          </a:p>
        </p:txBody>
      </p:sp>
      <p:sp>
        <p:nvSpPr>
          <p:cNvPr id="331" name="Google Shape;331;h4d99ccb46f147202_1_384"/>
          <p:cNvSpPr txBox="1"/>
          <p:nvPr/>
        </p:nvSpPr>
        <p:spPr>
          <a:xfrm>
            <a:off x="2173060" y="3187782"/>
            <a:ext cx="6948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865.09</a:t>
            </a:r>
            <a:endParaRPr/>
          </a:p>
        </p:txBody>
      </p:sp>
      <p:sp>
        <p:nvSpPr>
          <p:cNvPr id="332" name="Google Shape;332;h4d99ccb46f147202_1_384"/>
          <p:cNvSpPr txBox="1"/>
          <p:nvPr/>
        </p:nvSpPr>
        <p:spPr>
          <a:xfrm>
            <a:off x="2904580" y="3187782"/>
            <a:ext cx="8412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1,512.66</a:t>
            </a:r>
            <a:endParaRPr/>
          </a:p>
        </p:txBody>
      </p:sp>
      <p:sp>
        <p:nvSpPr>
          <p:cNvPr id="333" name="Google Shape;333;h4d99ccb46f147202_1_384"/>
          <p:cNvSpPr txBox="1"/>
          <p:nvPr/>
        </p:nvSpPr>
        <p:spPr>
          <a:xfrm>
            <a:off x="3636148" y="3187778"/>
            <a:ext cx="5484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.9966</a:t>
            </a:r>
            <a:endParaRPr/>
          </a:p>
        </p:txBody>
      </p:sp>
      <p:sp>
        <p:nvSpPr>
          <p:cNvPr id="334" name="Google Shape;334;h4d99ccb46f147202_1_384"/>
          <p:cNvSpPr/>
          <p:nvPr/>
        </p:nvSpPr>
        <p:spPr>
          <a:xfrm>
            <a:off x="746596" y="3608406"/>
            <a:ext cx="3492900" cy="365700"/>
          </a:xfrm>
          <a:prstGeom prst="roundRect">
            <a:avLst>
              <a:gd name="adj" fmla="val 16667"/>
            </a:avLst>
          </a:prstGeom>
          <a:solidFill>
            <a:srgbClr val="F6F1FB"/>
          </a:solidFill>
          <a:ln w="9525" cap="flat" cmpd="sng">
            <a:solidFill>
              <a:srgbClr val="DCCF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h4d99ccb46f147202_1_384"/>
          <p:cNvSpPr txBox="1"/>
          <p:nvPr/>
        </p:nvSpPr>
        <p:spPr>
          <a:xfrm>
            <a:off x="838036" y="3690702"/>
            <a:ext cx="1326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XGBoost ✓</a:t>
            </a:r>
            <a:endParaRPr/>
          </a:p>
        </p:txBody>
      </p:sp>
      <p:sp>
        <p:nvSpPr>
          <p:cNvPr id="336" name="Google Shape;336;h4d99ccb46f147202_1_384"/>
          <p:cNvSpPr txBox="1"/>
          <p:nvPr/>
        </p:nvSpPr>
        <p:spPr>
          <a:xfrm>
            <a:off x="2173060" y="3690702"/>
            <a:ext cx="6948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693.83</a:t>
            </a:r>
            <a:endParaRPr/>
          </a:p>
        </p:txBody>
      </p:sp>
      <p:sp>
        <p:nvSpPr>
          <p:cNvPr id="337" name="Google Shape;337;h4d99ccb46f147202_1_384"/>
          <p:cNvSpPr txBox="1"/>
          <p:nvPr/>
        </p:nvSpPr>
        <p:spPr>
          <a:xfrm>
            <a:off x="2904580" y="3690702"/>
            <a:ext cx="8412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1,518.44</a:t>
            </a:r>
            <a:endParaRPr/>
          </a:p>
        </p:txBody>
      </p:sp>
      <p:sp>
        <p:nvSpPr>
          <p:cNvPr id="338" name="Google Shape;338;h4d99ccb46f147202_1_384"/>
          <p:cNvSpPr txBox="1"/>
          <p:nvPr/>
        </p:nvSpPr>
        <p:spPr>
          <a:xfrm>
            <a:off x="3636148" y="3690699"/>
            <a:ext cx="5484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.9965</a:t>
            </a:r>
            <a:endParaRPr/>
          </a:p>
        </p:txBody>
      </p:sp>
      <p:sp>
        <p:nvSpPr>
          <p:cNvPr id="339" name="Google Shape;339;h4d99ccb46f147202_1_384"/>
          <p:cNvSpPr/>
          <p:nvPr/>
        </p:nvSpPr>
        <p:spPr>
          <a:xfrm>
            <a:off x="801460" y="4349070"/>
            <a:ext cx="3310200" cy="8595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h4d99ccb46f147202_1_384"/>
          <p:cNvSpPr txBox="1"/>
          <p:nvPr/>
        </p:nvSpPr>
        <p:spPr>
          <a:xfrm>
            <a:off x="984339" y="4504518"/>
            <a:ext cx="29262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SELECT FOR NEXT STAGE</a:t>
            </a:r>
            <a:endParaRPr/>
          </a:p>
        </p:txBody>
      </p:sp>
      <p:sp>
        <p:nvSpPr>
          <p:cNvPr id="341" name="Google Shape;341;h4d99ccb46f147202_1_384"/>
          <p:cNvSpPr txBox="1"/>
          <p:nvPr/>
        </p:nvSpPr>
        <p:spPr>
          <a:xfrm>
            <a:off x="984339" y="4797126"/>
            <a:ext cx="29262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Random Forest  +  XGBoost</a:t>
            </a:r>
            <a:endParaRPr/>
          </a:p>
        </p:txBody>
      </p:sp>
      <p:sp>
        <p:nvSpPr>
          <p:cNvPr id="342" name="Google Shape;342;h4d99ccb46f147202_1_384"/>
          <p:cNvSpPr txBox="1"/>
          <p:nvPr/>
        </p:nvSpPr>
        <p:spPr>
          <a:xfrm>
            <a:off x="984339" y="5034870"/>
            <a:ext cx="2926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Bagging vs. Boosting</a:t>
            </a:r>
            <a:endParaRPr/>
          </a:p>
        </p:txBody>
      </p:sp>
      <p:sp>
        <p:nvSpPr>
          <p:cNvPr id="343" name="Google Shape;343;h4d99ccb46f147202_1_384"/>
          <p:cNvSpPr/>
          <p:nvPr/>
        </p:nvSpPr>
        <p:spPr>
          <a:xfrm>
            <a:off x="4550500" y="874350"/>
            <a:ext cx="3200400" cy="4590300"/>
          </a:xfrm>
          <a:prstGeom prst="roundRect">
            <a:avLst>
              <a:gd name="adj" fmla="val 16667"/>
            </a:avLst>
          </a:prstGeom>
          <a:solidFill>
            <a:srgbClr val="F8F5FD"/>
          </a:solidFill>
          <a:ln w="9525" cap="flat" cmpd="sng">
            <a:solidFill>
              <a:srgbClr val="DCCF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h4d99ccb46f147202_1_384"/>
          <p:cNvSpPr txBox="1"/>
          <p:nvPr/>
        </p:nvSpPr>
        <p:spPr>
          <a:xfrm>
            <a:off x="4806532" y="1121238"/>
            <a:ext cx="265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2  AFTER TUNING</a:t>
            </a:r>
            <a:endParaRPr/>
          </a:p>
        </p:txBody>
      </p:sp>
      <p:sp>
        <p:nvSpPr>
          <p:cNvPr id="345" name="Google Shape;345;h4d99ccb46f147202_1_384"/>
          <p:cNvSpPr txBox="1"/>
          <p:nvPr/>
        </p:nvSpPr>
        <p:spPr>
          <a:xfrm>
            <a:off x="4806532" y="1441278"/>
            <a:ext cx="256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Optimize the two selected ensembles</a:t>
            </a:r>
            <a:endParaRPr/>
          </a:p>
        </p:txBody>
      </p:sp>
      <p:sp>
        <p:nvSpPr>
          <p:cNvPr id="346" name="Google Shape;346;h4d99ccb46f147202_1_384"/>
          <p:cNvSpPr txBox="1"/>
          <p:nvPr/>
        </p:nvSpPr>
        <p:spPr>
          <a:xfrm>
            <a:off x="4824820" y="1907622"/>
            <a:ext cx="1508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347" name="Google Shape;347;h4d99ccb46f147202_1_384"/>
          <p:cNvSpPr txBox="1"/>
          <p:nvPr/>
        </p:nvSpPr>
        <p:spPr>
          <a:xfrm>
            <a:off x="4824819" y="2200230"/>
            <a:ext cx="2514600" cy="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Best parameters = baseline settings</a:t>
            </a:r>
            <a:endParaRPr/>
          </a:p>
        </p:txBody>
      </p:sp>
      <p:sp>
        <p:nvSpPr>
          <p:cNvPr id="348" name="Google Shape;348;h4d99ccb46f147202_1_384"/>
          <p:cNvSpPr txBox="1"/>
          <p:nvPr/>
        </p:nvSpPr>
        <p:spPr>
          <a:xfrm>
            <a:off x="4824820" y="2584278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349" name="Google Shape;349;h4d99ccb46f147202_1_384"/>
          <p:cNvSpPr txBox="1"/>
          <p:nvPr/>
        </p:nvSpPr>
        <p:spPr>
          <a:xfrm>
            <a:off x="5574628" y="2547702"/>
            <a:ext cx="118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$590.61</a:t>
            </a:r>
            <a:endParaRPr/>
          </a:p>
        </p:txBody>
      </p:sp>
      <p:sp>
        <p:nvSpPr>
          <p:cNvPr id="350" name="Google Shape;350;h4d99ccb46f147202_1_384"/>
          <p:cNvSpPr txBox="1"/>
          <p:nvPr/>
        </p:nvSpPr>
        <p:spPr>
          <a:xfrm>
            <a:off x="4824820" y="2895174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351" name="Google Shape;351;h4d99ccb46f147202_1_384"/>
          <p:cNvSpPr txBox="1"/>
          <p:nvPr/>
        </p:nvSpPr>
        <p:spPr>
          <a:xfrm>
            <a:off x="5574628" y="2876886"/>
            <a:ext cx="1188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$1,228.36</a:t>
            </a:r>
            <a:endParaRPr/>
          </a:p>
        </p:txBody>
      </p:sp>
      <p:sp>
        <p:nvSpPr>
          <p:cNvPr id="352" name="Google Shape;352;h4d99ccb46f147202_1_384"/>
          <p:cNvSpPr txBox="1"/>
          <p:nvPr/>
        </p:nvSpPr>
        <p:spPr>
          <a:xfrm>
            <a:off x="4824819" y="3233502"/>
            <a:ext cx="2331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→ No material improvement</a:t>
            </a:r>
            <a:endParaRPr/>
          </a:p>
        </p:txBody>
      </p:sp>
      <p:sp>
        <p:nvSpPr>
          <p:cNvPr id="353" name="Google Shape;353;h4d99ccb46f147202_1_384"/>
          <p:cNvSpPr txBox="1"/>
          <p:nvPr/>
        </p:nvSpPr>
        <p:spPr>
          <a:xfrm>
            <a:off x="4824820" y="3708989"/>
            <a:ext cx="1508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354" name="Google Shape;354;h4d99ccb46f147202_1_384"/>
          <p:cNvSpPr txBox="1"/>
          <p:nvPr/>
        </p:nvSpPr>
        <p:spPr>
          <a:xfrm>
            <a:off x="4824819" y="4001598"/>
            <a:ext cx="24873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200 trees • depth 5 • LR .05 • subsample 1.0</a:t>
            </a:r>
            <a:endParaRPr/>
          </a:p>
        </p:txBody>
      </p:sp>
      <p:sp>
        <p:nvSpPr>
          <p:cNvPr id="355" name="Google Shape;355;h4d99ccb46f147202_1_384"/>
          <p:cNvSpPr txBox="1"/>
          <p:nvPr/>
        </p:nvSpPr>
        <p:spPr>
          <a:xfrm>
            <a:off x="4824820" y="4376502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356" name="Google Shape;356;h4d99ccb46f147202_1_384"/>
          <p:cNvSpPr txBox="1"/>
          <p:nvPr/>
        </p:nvSpPr>
        <p:spPr>
          <a:xfrm>
            <a:off x="5574628" y="4339926"/>
            <a:ext cx="118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$601.22</a:t>
            </a:r>
            <a:endParaRPr/>
          </a:p>
        </p:txBody>
      </p:sp>
      <p:sp>
        <p:nvSpPr>
          <p:cNvPr id="357" name="Google Shape;357;h4d99ccb46f147202_1_384"/>
          <p:cNvSpPr txBox="1"/>
          <p:nvPr/>
        </p:nvSpPr>
        <p:spPr>
          <a:xfrm>
            <a:off x="4824820" y="4687398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358" name="Google Shape;358;h4d99ccb46f147202_1_384"/>
          <p:cNvSpPr txBox="1"/>
          <p:nvPr/>
        </p:nvSpPr>
        <p:spPr>
          <a:xfrm>
            <a:off x="5574628" y="4669110"/>
            <a:ext cx="1188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$1,245.98</a:t>
            </a:r>
            <a:endParaRPr/>
          </a:p>
        </p:txBody>
      </p:sp>
      <p:sp>
        <p:nvSpPr>
          <p:cNvPr id="359" name="Google Shape;359;h4d99ccb46f147202_1_384"/>
          <p:cNvSpPr txBox="1"/>
          <p:nvPr/>
        </p:nvSpPr>
        <p:spPr>
          <a:xfrm>
            <a:off x="4824819" y="5016582"/>
            <a:ext cx="24231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→ MAE improved by $92.61</a:t>
            </a:r>
            <a:endParaRPr/>
          </a:p>
        </p:txBody>
      </p:sp>
      <p:sp>
        <p:nvSpPr>
          <p:cNvPr id="360" name="Google Shape;360;h4d99ccb46f147202_1_384"/>
          <p:cNvSpPr/>
          <p:nvPr/>
        </p:nvSpPr>
        <p:spPr>
          <a:xfrm>
            <a:off x="7952067" y="874350"/>
            <a:ext cx="3675900" cy="4590300"/>
          </a:xfrm>
          <a:prstGeom prst="roundRect">
            <a:avLst>
              <a:gd name="adj" fmla="val 16667"/>
            </a:avLst>
          </a:prstGeom>
          <a:solidFill>
            <a:srgbClr val="FCF7F1"/>
          </a:solidFill>
          <a:ln w="9525" cap="flat" cmpd="sng">
            <a:solidFill>
              <a:srgbClr val="EFDB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h4d99ccb46f147202_1_384"/>
          <p:cNvSpPr txBox="1"/>
          <p:nvPr/>
        </p:nvSpPr>
        <p:spPr>
          <a:xfrm>
            <a:off x="8208100" y="1121238"/>
            <a:ext cx="306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57722"/>
                </a:solidFill>
                <a:latin typeface="Calibri"/>
                <a:ea typeface="Calibri"/>
                <a:cs typeface="Calibri"/>
                <a:sym typeface="Calibri"/>
              </a:rPr>
              <a:t>3  AFTER OPTIMIZATION</a:t>
            </a:r>
            <a:endParaRPr/>
          </a:p>
        </p:txBody>
      </p:sp>
      <p:sp>
        <p:nvSpPr>
          <p:cNvPr id="362" name="Google Shape;362;h4d99ccb46f147202_1_384"/>
          <p:cNvSpPr txBox="1"/>
          <p:nvPr/>
        </p:nvSpPr>
        <p:spPr>
          <a:xfrm>
            <a:off x="8208100" y="1441278"/>
            <a:ext cx="274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6A79"/>
                </a:solidFill>
                <a:latin typeface="Calibri"/>
                <a:ea typeface="Calibri"/>
                <a:cs typeface="Calibri"/>
                <a:sym typeface="Calibri"/>
              </a:rPr>
              <a:t>Test log-transformed GDP target</a:t>
            </a:r>
            <a:endParaRPr/>
          </a:p>
        </p:txBody>
      </p:sp>
      <p:sp>
        <p:nvSpPr>
          <p:cNvPr id="363" name="Google Shape;363;h4d99ccb46f147202_1_384"/>
          <p:cNvSpPr txBox="1"/>
          <p:nvPr/>
        </p:nvSpPr>
        <p:spPr>
          <a:xfrm>
            <a:off x="8226388" y="1907622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Random Forest + Log</a:t>
            </a:r>
            <a:endParaRPr/>
          </a:p>
        </p:txBody>
      </p:sp>
      <p:sp>
        <p:nvSpPr>
          <p:cNvPr id="364" name="Google Shape;364;h4d99ccb46f147202_1_384"/>
          <p:cNvSpPr txBox="1"/>
          <p:nvPr/>
        </p:nvSpPr>
        <p:spPr>
          <a:xfrm>
            <a:off x="8226388" y="2309958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365" name="Google Shape;365;h4d99ccb46f147202_1_384"/>
          <p:cNvSpPr txBox="1"/>
          <p:nvPr/>
        </p:nvSpPr>
        <p:spPr>
          <a:xfrm>
            <a:off x="8976196" y="2273382"/>
            <a:ext cx="118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78F5E"/>
                </a:solidFill>
                <a:latin typeface="Calibri"/>
                <a:ea typeface="Calibri"/>
                <a:cs typeface="Calibri"/>
                <a:sym typeface="Calibri"/>
              </a:rPr>
              <a:t>$604.34</a:t>
            </a:r>
            <a:endParaRPr/>
          </a:p>
        </p:txBody>
      </p:sp>
      <p:sp>
        <p:nvSpPr>
          <p:cNvPr id="366" name="Google Shape;366;h4d99ccb46f147202_1_384"/>
          <p:cNvSpPr txBox="1"/>
          <p:nvPr/>
        </p:nvSpPr>
        <p:spPr>
          <a:xfrm>
            <a:off x="8226388" y="2620854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367" name="Google Shape;367;h4d99ccb46f147202_1_384"/>
          <p:cNvSpPr txBox="1"/>
          <p:nvPr/>
        </p:nvSpPr>
        <p:spPr>
          <a:xfrm>
            <a:off x="8976196" y="2602566"/>
            <a:ext cx="1188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$1,257.66</a:t>
            </a:r>
            <a:endParaRPr/>
          </a:p>
        </p:txBody>
      </p:sp>
      <p:sp>
        <p:nvSpPr>
          <p:cNvPr id="368" name="Google Shape;368;h4d99ccb46f147202_1_384"/>
          <p:cNvSpPr txBox="1"/>
          <p:nvPr/>
        </p:nvSpPr>
        <p:spPr>
          <a:xfrm>
            <a:off x="8226388" y="2968326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BE3737"/>
                </a:solidFill>
                <a:latin typeface="Calibri"/>
                <a:ea typeface="Calibri"/>
                <a:cs typeface="Calibri"/>
                <a:sym typeface="Calibri"/>
              </a:rPr>
              <a:t>→ Log target did not improve RF</a:t>
            </a:r>
            <a:endParaRPr/>
          </a:p>
        </p:txBody>
      </p:sp>
      <p:sp>
        <p:nvSpPr>
          <p:cNvPr id="369" name="Google Shape;369;h4d99ccb46f147202_1_384"/>
          <p:cNvSpPr txBox="1"/>
          <p:nvPr/>
        </p:nvSpPr>
        <p:spPr>
          <a:xfrm>
            <a:off x="8226388" y="3498678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XGBoost + Log</a:t>
            </a:r>
            <a:endParaRPr/>
          </a:p>
        </p:txBody>
      </p:sp>
      <p:sp>
        <p:nvSpPr>
          <p:cNvPr id="370" name="Google Shape;370;h4d99ccb46f147202_1_384"/>
          <p:cNvSpPr txBox="1"/>
          <p:nvPr/>
        </p:nvSpPr>
        <p:spPr>
          <a:xfrm>
            <a:off x="8226388" y="3882726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371" name="Google Shape;371;h4d99ccb46f147202_1_384"/>
          <p:cNvSpPr txBox="1"/>
          <p:nvPr/>
        </p:nvSpPr>
        <p:spPr>
          <a:xfrm>
            <a:off x="8976196" y="3846150"/>
            <a:ext cx="118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$595.45</a:t>
            </a:r>
            <a:endParaRPr/>
          </a:p>
        </p:txBody>
      </p:sp>
      <p:sp>
        <p:nvSpPr>
          <p:cNvPr id="372" name="Google Shape;372;h4d99ccb46f147202_1_384"/>
          <p:cNvSpPr txBox="1"/>
          <p:nvPr/>
        </p:nvSpPr>
        <p:spPr>
          <a:xfrm>
            <a:off x="8226388" y="4193622"/>
            <a:ext cx="548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/>
          </a:p>
        </p:txBody>
      </p:sp>
      <p:sp>
        <p:nvSpPr>
          <p:cNvPr id="373" name="Google Shape;373;h4d99ccb46f147202_1_384"/>
          <p:cNvSpPr txBox="1"/>
          <p:nvPr/>
        </p:nvSpPr>
        <p:spPr>
          <a:xfrm>
            <a:off x="8976196" y="4175334"/>
            <a:ext cx="1188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32D3C"/>
                </a:solidFill>
                <a:latin typeface="Calibri"/>
                <a:ea typeface="Calibri"/>
                <a:cs typeface="Calibri"/>
                <a:sym typeface="Calibri"/>
              </a:rPr>
              <a:t>$1,221.49</a:t>
            </a:r>
            <a:endParaRPr/>
          </a:p>
        </p:txBody>
      </p:sp>
      <p:sp>
        <p:nvSpPr>
          <p:cNvPr id="374" name="Google Shape;374;h4d99ccb46f147202_1_384"/>
          <p:cNvSpPr txBox="1"/>
          <p:nvPr/>
        </p:nvSpPr>
        <p:spPr>
          <a:xfrm>
            <a:off x="8226388" y="4541094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→ Log target improved XGBoost</a:t>
            </a:r>
            <a:endParaRPr/>
          </a:p>
        </p:txBody>
      </p:sp>
      <p:sp>
        <p:nvSpPr>
          <p:cNvPr id="375" name="Google Shape;375;h4d99ccb46f147202_1_384"/>
          <p:cNvSpPr/>
          <p:nvPr/>
        </p:nvSpPr>
        <p:spPr>
          <a:xfrm>
            <a:off x="8208100" y="4870278"/>
            <a:ext cx="3136500" cy="365700"/>
          </a:xfrm>
          <a:prstGeom prst="roundRect">
            <a:avLst>
              <a:gd name="adj" fmla="val 16667"/>
            </a:avLst>
          </a:prstGeom>
          <a:solidFill>
            <a:srgbClr val="F4EFFB"/>
          </a:solidFill>
          <a:ln w="9525" cap="flat" cmpd="sng">
            <a:solidFill>
              <a:srgbClr val="DCCF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h4d99ccb46f147202_1_384"/>
          <p:cNvSpPr txBox="1"/>
          <p:nvPr/>
        </p:nvSpPr>
        <p:spPr>
          <a:xfrm>
            <a:off x="8363548" y="4980006"/>
            <a:ext cx="28164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Train–Validation gap ≈ $180.11</a:t>
            </a:r>
            <a:endParaRPr/>
          </a:p>
        </p:txBody>
      </p:sp>
      <p:sp>
        <p:nvSpPr>
          <p:cNvPr id="377" name="Google Shape;377;h4d99ccb46f147202_1_384"/>
          <p:cNvSpPr/>
          <p:nvPr/>
        </p:nvSpPr>
        <p:spPr>
          <a:xfrm>
            <a:off x="764883" y="5647518"/>
            <a:ext cx="10698600" cy="5211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h4d99ccb46f147202_1_384"/>
          <p:cNvSpPr txBox="1"/>
          <p:nvPr/>
        </p:nvSpPr>
        <p:spPr>
          <a:xfrm>
            <a:off x="956908" y="5812110"/>
            <a:ext cx="594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12A4E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/>
          </a:p>
        </p:txBody>
      </p:sp>
      <p:sp>
        <p:nvSpPr>
          <p:cNvPr id="379" name="Google Shape;379;h4d99ccb46f147202_1_384"/>
          <p:cNvSpPr txBox="1"/>
          <p:nvPr/>
        </p:nvSpPr>
        <p:spPr>
          <a:xfrm>
            <a:off x="1624420" y="5775534"/>
            <a:ext cx="9281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C41B4"/>
                </a:solidFill>
                <a:latin typeface="Calibri"/>
                <a:ea typeface="Calibri"/>
                <a:cs typeface="Calibri"/>
                <a:sym typeface="Calibri"/>
              </a:rPr>
              <a:t>4 Baselines  →  Select RF + XGBoost  →  Tune Both  →  Test Log Target  →  Select XGBoost + Log for better generalization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h63a7b705bf8cfe3c_0_512"/>
          <p:cNvSpPr txBox="1"/>
          <p:nvPr/>
        </p:nvSpPr>
        <p:spPr>
          <a:xfrm>
            <a:off x="566928" y="256032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Final Model</a:t>
            </a: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 Selection and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Training </a:t>
            </a:r>
            <a:endParaRPr sz="2800"/>
          </a:p>
        </p:txBody>
      </p:sp>
      <p:sp>
        <p:nvSpPr>
          <p:cNvPr id="385" name="Google Shape;385;h63a7b705bf8cfe3c_0_512"/>
          <p:cNvSpPr/>
          <p:nvPr/>
        </p:nvSpPr>
        <p:spPr>
          <a:xfrm>
            <a:off x="594360" y="1234440"/>
            <a:ext cx="2971800" cy="4526400"/>
          </a:xfrm>
          <a:prstGeom prst="roundRect">
            <a:avLst>
              <a:gd name="adj" fmla="val 16667"/>
            </a:avLst>
          </a:prstGeom>
          <a:solidFill>
            <a:srgbClr val="F7F3FB"/>
          </a:solidFill>
          <a:ln w="9525" cap="flat" cmpd="sng">
            <a:solidFill>
              <a:srgbClr val="DED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h63a7b705bf8cfe3c_0_512"/>
          <p:cNvSpPr txBox="1"/>
          <p:nvPr/>
        </p:nvSpPr>
        <p:spPr>
          <a:xfrm>
            <a:off x="841248" y="1508760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Final Model S</a:t>
            </a:r>
            <a:r>
              <a:rPr lang="en-US" sz="1500" b="1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etup</a:t>
            </a:r>
            <a:endParaRPr/>
          </a:p>
        </p:txBody>
      </p:sp>
      <p:sp>
        <p:nvSpPr>
          <p:cNvPr id="387" name="Google Shape;387;h63a7b705bf8cfe3c_0_512"/>
          <p:cNvSpPr txBox="1"/>
          <p:nvPr/>
        </p:nvSpPr>
        <p:spPr>
          <a:xfrm>
            <a:off x="841248" y="1874519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XGBoost + Log GDP</a:t>
            </a:r>
            <a:endParaRPr/>
          </a:p>
        </p:txBody>
      </p:sp>
      <p:sp>
        <p:nvSpPr>
          <p:cNvPr id="388" name="Google Shape;388;h63a7b705bf8cfe3c_0_512"/>
          <p:cNvSpPr txBox="1"/>
          <p:nvPr/>
        </p:nvSpPr>
        <p:spPr>
          <a:xfrm>
            <a:off x="841248" y="2304288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Tuned parameters</a:t>
            </a:r>
            <a:endParaRPr/>
          </a:p>
        </p:txBody>
      </p:sp>
      <p:sp>
        <p:nvSpPr>
          <p:cNvPr id="389" name="Google Shape;389;h63a7b705bf8cfe3c_0_512"/>
          <p:cNvSpPr txBox="1"/>
          <p:nvPr/>
        </p:nvSpPr>
        <p:spPr>
          <a:xfrm>
            <a:off x="841248" y="2606040"/>
            <a:ext cx="22860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200 trees</a:t>
            </a:r>
            <a:b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max_depth = 5</a:t>
            </a:r>
            <a:b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learning_rate = 0.05</a:t>
            </a:r>
            <a:b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6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subsample = 1.0</a:t>
            </a:r>
            <a:endParaRPr/>
          </a:p>
        </p:txBody>
      </p:sp>
      <p:sp>
        <p:nvSpPr>
          <p:cNvPr id="390" name="Google Shape;390;h63a7b705bf8cfe3c_0_512"/>
          <p:cNvSpPr txBox="1"/>
          <p:nvPr/>
        </p:nvSpPr>
        <p:spPr>
          <a:xfrm>
            <a:off x="841248" y="3776472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Final training</a:t>
            </a:r>
            <a:endParaRPr/>
          </a:p>
        </p:txBody>
      </p:sp>
      <p:sp>
        <p:nvSpPr>
          <p:cNvPr id="391" name="Google Shape;391;h63a7b705bf8cfe3c_0_512"/>
          <p:cNvSpPr txBox="1"/>
          <p:nvPr/>
        </p:nvSpPr>
        <p:spPr>
          <a:xfrm>
            <a:off x="841248" y="4078224"/>
            <a:ext cx="233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Train + validation combined</a:t>
            </a:r>
            <a:b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2006–2017</a:t>
            </a:r>
            <a:endParaRPr/>
          </a:p>
        </p:txBody>
      </p:sp>
      <p:sp>
        <p:nvSpPr>
          <p:cNvPr id="392" name="Google Shape;392;h63a7b705bf8cfe3c_0_512"/>
          <p:cNvSpPr txBox="1"/>
          <p:nvPr/>
        </p:nvSpPr>
        <p:spPr>
          <a:xfrm>
            <a:off x="1755648" y="4590288"/>
            <a:ext cx="45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393" name="Google Shape;393;h63a7b705bf8cfe3c_0_512"/>
          <p:cNvSpPr txBox="1"/>
          <p:nvPr/>
        </p:nvSpPr>
        <p:spPr>
          <a:xfrm>
            <a:off x="841248" y="4919472"/>
            <a:ext cx="2331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Frozen model</a:t>
            </a:r>
            <a:endParaRPr/>
          </a:p>
        </p:txBody>
      </p:sp>
      <p:sp>
        <p:nvSpPr>
          <p:cNvPr id="394" name="Google Shape;394;h63a7b705bf8cfe3c_0_512"/>
          <p:cNvSpPr txBox="1"/>
          <p:nvPr/>
        </p:nvSpPr>
        <p:spPr>
          <a:xfrm>
            <a:off x="841248" y="5257800"/>
            <a:ext cx="2331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Test once: 2018–2020</a:t>
            </a:r>
            <a:endParaRPr/>
          </a:p>
        </p:txBody>
      </p:sp>
      <p:sp>
        <p:nvSpPr>
          <p:cNvPr id="395" name="Google Shape;395;h63a7b705bf8cfe3c_0_512"/>
          <p:cNvSpPr/>
          <p:nvPr/>
        </p:nvSpPr>
        <p:spPr>
          <a:xfrm>
            <a:off x="3794760" y="1234440"/>
            <a:ext cx="4892100" cy="452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h63a7b705bf8cfe3c_0_512"/>
          <p:cNvSpPr txBox="1"/>
          <p:nvPr/>
        </p:nvSpPr>
        <p:spPr>
          <a:xfrm>
            <a:off x="4069080" y="1508760"/>
            <a:ext cx="2103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</p:txBody>
      </p:sp>
      <p:sp>
        <p:nvSpPr>
          <p:cNvPr id="397" name="Google Shape;397;h63a7b705bf8cfe3c_0_512"/>
          <p:cNvSpPr txBox="1"/>
          <p:nvPr/>
        </p:nvSpPr>
        <p:spPr>
          <a:xfrm>
            <a:off x="4096512" y="1965960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h63a7b705bf8cfe3c_0_512"/>
          <p:cNvSpPr txBox="1"/>
          <p:nvPr/>
        </p:nvSpPr>
        <p:spPr>
          <a:xfrm>
            <a:off x="5669280" y="1965960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MAE ↓</a:t>
            </a:r>
            <a:endParaRPr/>
          </a:p>
        </p:txBody>
      </p:sp>
      <p:sp>
        <p:nvSpPr>
          <p:cNvPr id="399" name="Google Shape;399;h63a7b705bf8cfe3c_0_512"/>
          <p:cNvSpPr txBox="1"/>
          <p:nvPr/>
        </p:nvSpPr>
        <p:spPr>
          <a:xfrm>
            <a:off x="6748272" y="1965960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RMSE ↓</a:t>
            </a:r>
            <a:endParaRPr/>
          </a:p>
        </p:txBody>
      </p:sp>
      <p:sp>
        <p:nvSpPr>
          <p:cNvPr id="400" name="Google Shape;400;h63a7b705bf8cfe3c_0_512"/>
          <p:cNvSpPr txBox="1"/>
          <p:nvPr/>
        </p:nvSpPr>
        <p:spPr>
          <a:xfrm>
            <a:off x="7415777" y="1943485"/>
            <a:ext cx="914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R² ↑</a:t>
            </a:r>
            <a:endParaRPr/>
          </a:p>
        </p:txBody>
      </p:sp>
      <p:sp>
        <p:nvSpPr>
          <p:cNvPr id="401" name="Google Shape;401;h63a7b705bf8cfe3c_0_512"/>
          <p:cNvSpPr/>
          <p:nvPr/>
        </p:nvSpPr>
        <p:spPr>
          <a:xfrm>
            <a:off x="4023360" y="2304288"/>
            <a:ext cx="4370700" cy="713100"/>
          </a:xfrm>
          <a:prstGeom prst="roundRect">
            <a:avLst>
              <a:gd name="adj" fmla="val 16667"/>
            </a:avLst>
          </a:prstGeom>
          <a:solidFill>
            <a:srgbClr val="F1F9F4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h63a7b705bf8cfe3c_0_512"/>
          <p:cNvSpPr txBox="1"/>
          <p:nvPr/>
        </p:nvSpPr>
        <p:spPr>
          <a:xfrm>
            <a:off x="4187952" y="2459736"/>
            <a:ext cx="1234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br>
              <a:rPr lang="en-US" sz="919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2006–2017</a:t>
            </a:r>
            <a:endParaRPr/>
          </a:p>
        </p:txBody>
      </p:sp>
      <p:sp>
        <p:nvSpPr>
          <p:cNvPr id="403" name="Google Shape;403;h63a7b705bf8cfe3c_0_512"/>
          <p:cNvSpPr txBox="1"/>
          <p:nvPr/>
        </p:nvSpPr>
        <p:spPr>
          <a:xfrm>
            <a:off x="5504688" y="2542032"/>
            <a:ext cx="1005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$426.45</a:t>
            </a:r>
            <a:endParaRPr/>
          </a:p>
        </p:txBody>
      </p:sp>
      <p:sp>
        <p:nvSpPr>
          <p:cNvPr id="404" name="Google Shape;404;h63a7b705bf8cfe3c_0_512"/>
          <p:cNvSpPr txBox="1"/>
          <p:nvPr/>
        </p:nvSpPr>
        <p:spPr>
          <a:xfrm>
            <a:off x="6647688" y="2542032"/>
            <a:ext cx="1051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$841.13</a:t>
            </a:r>
            <a:endParaRPr/>
          </a:p>
        </p:txBody>
      </p:sp>
      <p:sp>
        <p:nvSpPr>
          <p:cNvPr id="405" name="Google Shape;405;h63a7b705bf8cfe3c_0_512"/>
          <p:cNvSpPr txBox="1"/>
          <p:nvPr/>
        </p:nvSpPr>
        <p:spPr>
          <a:xfrm>
            <a:off x="7744968" y="2542032"/>
            <a:ext cx="530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0.9989</a:t>
            </a:r>
            <a:endParaRPr/>
          </a:p>
        </p:txBody>
      </p:sp>
      <p:sp>
        <p:nvSpPr>
          <p:cNvPr id="406" name="Google Shape;406;h63a7b705bf8cfe3c_0_512"/>
          <p:cNvSpPr/>
          <p:nvPr/>
        </p:nvSpPr>
        <p:spPr>
          <a:xfrm>
            <a:off x="4023360" y="3154680"/>
            <a:ext cx="4370700" cy="713100"/>
          </a:xfrm>
          <a:prstGeom prst="roundRect">
            <a:avLst>
              <a:gd name="adj" fmla="val 16667"/>
            </a:avLst>
          </a:prstGeom>
          <a:solidFill>
            <a:srgbClr val="F7F3FB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h63a7b705bf8cfe3c_0_512"/>
          <p:cNvSpPr txBox="1"/>
          <p:nvPr/>
        </p:nvSpPr>
        <p:spPr>
          <a:xfrm>
            <a:off x="4187952" y="3310128"/>
            <a:ext cx="1234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br>
              <a:rPr lang="en-US" sz="919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2018–2020</a:t>
            </a:r>
            <a:endParaRPr/>
          </a:p>
        </p:txBody>
      </p:sp>
      <p:sp>
        <p:nvSpPr>
          <p:cNvPr id="408" name="Google Shape;408;h63a7b705bf8cfe3c_0_512"/>
          <p:cNvSpPr txBox="1"/>
          <p:nvPr/>
        </p:nvSpPr>
        <p:spPr>
          <a:xfrm>
            <a:off x="5504688" y="3392424"/>
            <a:ext cx="1005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$1,476.45</a:t>
            </a:r>
            <a:endParaRPr/>
          </a:p>
        </p:txBody>
      </p:sp>
      <p:sp>
        <p:nvSpPr>
          <p:cNvPr id="409" name="Google Shape;409;h63a7b705bf8cfe3c_0_512"/>
          <p:cNvSpPr txBox="1"/>
          <p:nvPr/>
        </p:nvSpPr>
        <p:spPr>
          <a:xfrm>
            <a:off x="6647688" y="3392424"/>
            <a:ext cx="1051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$3,753.32</a:t>
            </a:r>
            <a:endParaRPr/>
          </a:p>
        </p:txBody>
      </p:sp>
      <p:sp>
        <p:nvSpPr>
          <p:cNvPr id="410" name="Google Shape;410;h63a7b705bf8cfe3c_0_512"/>
          <p:cNvSpPr txBox="1"/>
          <p:nvPr/>
        </p:nvSpPr>
        <p:spPr>
          <a:xfrm>
            <a:off x="7744968" y="3392424"/>
            <a:ext cx="530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0.9782</a:t>
            </a:r>
            <a:endParaRPr/>
          </a:p>
        </p:txBody>
      </p:sp>
      <p:sp>
        <p:nvSpPr>
          <p:cNvPr id="411" name="Google Shape;411;h63a7b705bf8cfe3c_0_512"/>
          <p:cNvSpPr/>
          <p:nvPr/>
        </p:nvSpPr>
        <p:spPr>
          <a:xfrm>
            <a:off x="4023360" y="4005072"/>
            <a:ext cx="4370700" cy="713100"/>
          </a:xfrm>
          <a:prstGeom prst="roundRect">
            <a:avLst>
              <a:gd name="adj" fmla="val 16667"/>
            </a:avLst>
          </a:prstGeom>
          <a:solidFill>
            <a:srgbClr val="FCF6EE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h63a7b705bf8cfe3c_0_512"/>
          <p:cNvSpPr txBox="1"/>
          <p:nvPr/>
        </p:nvSpPr>
        <p:spPr>
          <a:xfrm>
            <a:off x="4187952" y="4160520"/>
            <a:ext cx="1234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Naive</a:t>
            </a:r>
            <a:br>
              <a:rPr lang="en-US" sz="919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/>
          </a:p>
        </p:txBody>
      </p:sp>
      <p:sp>
        <p:nvSpPr>
          <p:cNvPr id="413" name="Google Shape;413;h63a7b705bf8cfe3c_0_512"/>
          <p:cNvSpPr txBox="1"/>
          <p:nvPr/>
        </p:nvSpPr>
        <p:spPr>
          <a:xfrm>
            <a:off x="5504688" y="4242816"/>
            <a:ext cx="10059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$1,399.39</a:t>
            </a:r>
            <a:endParaRPr/>
          </a:p>
        </p:txBody>
      </p:sp>
      <p:sp>
        <p:nvSpPr>
          <p:cNvPr id="414" name="Google Shape;414;h63a7b705bf8cfe3c_0_512"/>
          <p:cNvSpPr txBox="1"/>
          <p:nvPr/>
        </p:nvSpPr>
        <p:spPr>
          <a:xfrm>
            <a:off x="6647688" y="4242816"/>
            <a:ext cx="1051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$3,837.94</a:t>
            </a:r>
            <a:endParaRPr/>
          </a:p>
        </p:txBody>
      </p:sp>
      <p:sp>
        <p:nvSpPr>
          <p:cNvPr id="415" name="Google Shape;415;h63a7b705bf8cfe3c_0_512"/>
          <p:cNvSpPr txBox="1"/>
          <p:nvPr/>
        </p:nvSpPr>
        <p:spPr>
          <a:xfrm>
            <a:off x="7744968" y="4242816"/>
            <a:ext cx="530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0.9772</a:t>
            </a:r>
            <a:endParaRPr/>
          </a:p>
        </p:txBody>
      </p:sp>
      <p:sp>
        <p:nvSpPr>
          <p:cNvPr id="416" name="Google Shape;416;h63a7b705bf8cfe3c_0_512"/>
          <p:cNvSpPr txBox="1"/>
          <p:nvPr/>
        </p:nvSpPr>
        <p:spPr>
          <a:xfrm>
            <a:off x="4096512" y="5001768"/>
            <a:ext cx="1508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Generalization gap</a:t>
            </a:r>
            <a:endParaRPr/>
          </a:p>
        </p:txBody>
      </p:sp>
      <p:sp>
        <p:nvSpPr>
          <p:cNvPr id="417" name="Google Shape;417;h63a7b705bf8cfe3c_0_512"/>
          <p:cNvSpPr txBox="1"/>
          <p:nvPr/>
        </p:nvSpPr>
        <p:spPr>
          <a:xfrm>
            <a:off x="5303662" y="5009421"/>
            <a:ext cx="4160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MAE gap = $1,050.00   </a:t>
            </a:r>
            <a:endParaRPr/>
          </a:p>
        </p:txBody>
      </p:sp>
      <p:sp>
        <p:nvSpPr>
          <p:cNvPr id="418" name="Google Shape;418;h63a7b705bf8cfe3c_0_512"/>
          <p:cNvSpPr/>
          <p:nvPr/>
        </p:nvSpPr>
        <p:spPr>
          <a:xfrm>
            <a:off x="8915400" y="1234440"/>
            <a:ext cx="2651700" cy="45264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h63a7b705bf8cfe3c_0_512"/>
          <p:cNvSpPr txBox="1"/>
          <p:nvPr/>
        </p:nvSpPr>
        <p:spPr>
          <a:xfrm>
            <a:off x="9162288" y="1508760"/>
            <a:ext cx="214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What does it mean?</a:t>
            </a:r>
            <a:endParaRPr/>
          </a:p>
        </p:txBody>
      </p:sp>
      <p:sp>
        <p:nvSpPr>
          <p:cNvPr id="420" name="Google Shape;420;h63a7b705bf8cfe3c_0_512"/>
          <p:cNvSpPr txBox="1"/>
          <p:nvPr/>
        </p:nvSpPr>
        <p:spPr>
          <a:xfrm>
            <a:off x="9162288" y="1965960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1" name="Google Shape;421;h63a7b705bf8cfe3c_0_512"/>
          <p:cNvSpPr txBox="1"/>
          <p:nvPr/>
        </p:nvSpPr>
        <p:spPr>
          <a:xfrm>
            <a:off x="9464040" y="1965960"/>
            <a:ext cx="1691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High test R²</a:t>
            </a:r>
            <a:endParaRPr/>
          </a:p>
        </p:txBody>
      </p:sp>
      <p:sp>
        <p:nvSpPr>
          <p:cNvPr id="422" name="Google Shape;422;h63a7b705bf8cfe3c_0_512"/>
          <p:cNvSpPr txBox="1"/>
          <p:nvPr/>
        </p:nvSpPr>
        <p:spPr>
          <a:xfrm>
            <a:off x="9162288" y="2276856"/>
            <a:ext cx="20574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The model still explains</a:t>
            </a:r>
            <a:b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97.82% of test variation.</a:t>
            </a:r>
            <a:endParaRPr/>
          </a:p>
        </p:txBody>
      </p:sp>
      <p:sp>
        <p:nvSpPr>
          <p:cNvPr id="423" name="Google Shape;423;h63a7b705bf8cfe3c_0_512"/>
          <p:cNvSpPr txBox="1"/>
          <p:nvPr/>
        </p:nvSpPr>
        <p:spPr>
          <a:xfrm>
            <a:off x="9162288" y="2907792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24" name="Google Shape;424;h63a7b705bf8cfe3c_0_512"/>
          <p:cNvSpPr txBox="1"/>
          <p:nvPr/>
        </p:nvSpPr>
        <p:spPr>
          <a:xfrm>
            <a:off x="9464040" y="2907792"/>
            <a:ext cx="16917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Error increased</a:t>
            </a:r>
            <a:endParaRPr/>
          </a:p>
        </p:txBody>
      </p:sp>
      <p:sp>
        <p:nvSpPr>
          <p:cNvPr id="425" name="Google Shape;425;h63a7b705bf8cfe3c_0_512"/>
          <p:cNvSpPr txBox="1"/>
          <p:nvPr/>
        </p:nvSpPr>
        <p:spPr>
          <a:xfrm>
            <a:off x="9162288" y="3218688"/>
            <a:ext cx="2148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Test MAE is 3.46× train MAE →</a:t>
            </a:r>
            <a:b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generalization is weaker.</a:t>
            </a:r>
            <a:endParaRPr/>
          </a:p>
        </p:txBody>
      </p:sp>
      <p:sp>
        <p:nvSpPr>
          <p:cNvPr id="426" name="Google Shape;426;h63a7b705bf8cfe3c_0_512"/>
          <p:cNvSpPr txBox="1"/>
          <p:nvPr/>
        </p:nvSpPr>
        <p:spPr>
          <a:xfrm>
            <a:off x="9162288" y="3886200"/>
            <a:ext cx="22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27" name="Google Shape;427;h63a7b705bf8cfe3c_0_512"/>
          <p:cNvSpPr txBox="1"/>
          <p:nvPr/>
        </p:nvSpPr>
        <p:spPr>
          <a:xfrm>
            <a:off x="9464040" y="3886200"/>
            <a:ext cx="1783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Benchmark matters</a:t>
            </a:r>
            <a:endParaRPr/>
          </a:p>
        </p:txBody>
      </p:sp>
      <p:sp>
        <p:nvSpPr>
          <p:cNvPr id="428" name="Google Shape;428;h63a7b705bf8cfe3c_0_512"/>
          <p:cNvSpPr txBox="1"/>
          <p:nvPr/>
        </p:nvSpPr>
        <p:spPr>
          <a:xfrm>
            <a:off x="9162288" y="4197096"/>
            <a:ext cx="2148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XGBoost has higher MAE than naive,</a:t>
            </a:r>
            <a:b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but slightly lower RMSE and higher R².</a:t>
            </a:r>
            <a:endParaRPr/>
          </a:p>
        </p:txBody>
      </p:sp>
      <p:sp>
        <p:nvSpPr>
          <p:cNvPr id="429" name="Google Shape;429;h63a7b705bf8cfe3c_0_512"/>
          <p:cNvSpPr txBox="1"/>
          <p:nvPr/>
        </p:nvSpPr>
        <p:spPr>
          <a:xfrm>
            <a:off x="9162288" y="5001768"/>
            <a:ext cx="1463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</p:txBody>
      </p:sp>
      <p:sp>
        <p:nvSpPr>
          <p:cNvPr id="430" name="Google Shape;430;h63a7b705bf8cfe3c_0_512"/>
          <p:cNvSpPr txBox="1"/>
          <p:nvPr/>
        </p:nvSpPr>
        <p:spPr>
          <a:xfrm>
            <a:off x="9162288" y="5303520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Strong fit ≠ clear improvement</a:t>
            </a:r>
            <a:br>
              <a:rPr lang="en-US" sz="96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6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over a simple GDP baseline.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63a7b705bf8cfe3c_0_515"/>
          <p:cNvSpPr txBox="1"/>
          <p:nvPr/>
        </p:nvSpPr>
        <p:spPr>
          <a:xfrm>
            <a:off x="566928" y="256032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n-US" sz="28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Error Analysis: Where Does the Model Struggle?</a:t>
            </a:r>
            <a:endParaRPr sz="2800"/>
          </a:p>
        </p:txBody>
      </p:sp>
      <p:sp>
        <p:nvSpPr>
          <p:cNvPr id="436" name="Google Shape;436;h63a7b705bf8cfe3c_0_515"/>
          <p:cNvSpPr/>
          <p:nvPr/>
        </p:nvSpPr>
        <p:spPr>
          <a:xfrm>
            <a:off x="566985" y="997415"/>
            <a:ext cx="3794700" cy="4526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h63a7b705bf8cfe3c_0_515"/>
          <p:cNvSpPr txBox="1"/>
          <p:nvPr/>
        </p:nvSpPr>
        <p:spPr>
          <a:xfrm>
            <a:off x="841305" y="1271735"/>
            <a:ext cx="2926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  Error by Predictor Year</a:t>
            </a:r>
            <a:endParaRPr/>
          </a:p>
        </p:txBody>
      </p:sp>
      <p:sp>
        <p:nvSpPr>
          <p:cNvPr id="438" name="Google Shape;438;h63a7b705bf8cfe3c_0_515"/>
          <p:cNvSpPr txBox="1"/>
          <p:nvPr/>
        </p:nvSpPr>
        <p:spPr>
          <a:xfrm>
            <a:off x="841305" y="1610063"/>
            <a:ext cx="30174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Predictor year → forecasts the following year</a:t>
            </a:r>
            <a:endParaRPr/>
          </a:p>
        </p:txBody>
      </p:sp>
      <p:sp>
        <p:nvSpPr>
          <p:cNvPr id="439" name="Google Shape;439;h63a7b705bf8cfe3c_0_515"/>
          <p:cNvSpPr txBox="1"/>
          <p:nvPr/>
        </p:nvSpPr>
        <p:spPr>
          <a:xfrm>
            <a:off x="841305" y="2094695"/>
            <a:ext cx="1234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2018 → 2019</a:t>
            </a:r>
            <a:endParaRPr/>
          </a:p>
        </p:txBody>
      </p:sp>
      <p:sp>
        <p:nvSpPr>
          <p:cNvPr id="440" name="Google Shape;440;h63a7b705bf8cfe3c_0_515"/>
          <p:cNvSpPr/>
          <p:nvPr/>
        </p:nvSpPr>
        <p:spPr>
          <a:xfrm>
            <a:off x="2075745" y="2112983"/>
            <a:ext cx="293100" cy="1464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h63a7b705bf8cfe3c_0_515"/>
          <p:cNvSpPr txBox="1"/>
          <p:nvPr/>
        </p:nvSpPr>
        <p:spPr>
          <a:xfrm>
            <a:off x="3465633" y="2094695"/>
            <a:ext cx="567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$520</a:t>
            </a:r>
            <a:endParaRPr/>
          </a:p>
        </p:txBody>
      </p:sp>
      <p:sp>
        <p:nvSpPr>
          <p:cNvPr id="442" name="Google Shape;442;h63a7b705bf8cfe3c_0_515"/>
          <p:cNvSpPr txBox="1"/>
          <p:nvPr/>
        </p:nvSpPr>
        <p:spPr>
          <a:xfrm>
            <a:off x="841305" y="2369014"/>
            <a:ext cx="2011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Median % err: 1.6%</a:t>
            </a:r>
            <a:endParaRPr/>
          </a:p>
        </p:txBody>
      </p:sp>
      <p:sp>
        <p:nvSpPr>
          <p:cNvPr id="443" name="Google Shape;443;h63a7b705bf8cfe3c_0_515"/>
          <p:cNvSpPr txBox="1"/>
          <p:nvPr/>
        </p:nvSpPr>
        <p:spPr>
          <a:xfrm>
            <a:off x="841305" y="2844502"/>
            <a:ext cx="1234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2019 → 2020</a:t>
            </a:r>
            <a:endParaRPr/>
          </a:p>
        </p:txBody>
      </p:sp>
      <p:sp>
        <p:nvSpPr>
          <p:cNvPr id="444" name="Google Shape;444;h63a7b705bf8cfe3c_0_515"/>
          <p:cNvSpPr/>
          <p:nvPr/>
        </p:nvSpPr>
        <p:spPr>
          <a:xfrm>
            <a:off x="2075745" y="2862790"/>
            <a:ext cx="1326000" cy="146400"/>
          </a:xfrm>
          <a:prstGeom prst="rect">
            <a:avLst/>
          </a:prstGeom>
          <a:solidFill>
            <a:srgbClr val="B8484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h63a7b705bf8cfe3c_0_515"/>
          <p:cNvSpPr txBox="1"/>
          <p:nvPr/>
        </p:nvSpPr>
        <p:spPr>
          <a:xfrm>
            <a:off x="3465633" y="2844502"/>
            <a:ext cx="567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$2,350</a:t>
            </a:r>
            <a:endParaRPr/>
          </a:p>
        </p:txBody>
      </p:sp>
      <p:sp>
        <p:nvSpPr>
          <p:cNvPr id="446" name="Google Shape;446;h63a7b705bf8cfe3c_0_515"/>
          <p:cNvSpPr txBox="1"/>
          <p:nvPr/>
        </p:nvSpPr>
        <p:spPr>
          <a:xfrm>
            <a:off x="841305" y="3118822"/>
            <a:ext cx="2011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Median % err: 6.9%</a:t>
            </a:r>
            <a:endParaRPr/>
          </a:p>
        </p:txBody>
      </p:sp>
      <p:sp>
        <p:nvSpPr>
          <p:cNvPr id="447" name="Google Shape;447;h63a7b705bf8cfe3c_0_515"/>
          <p:cNvSpPr txBox="1"/>
          <p:nvPr/>
        </p:nvSpPr>
        <p:spPr>
          <a:xfrm>
            <a:off x="841305" y="3594310"/>
            <a:ext cx="1234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2020 → 2021</a:t>
            </a:r>
            <a:endParaRPr/>
          </a:p>
        </p:txBody>
      </p:sp>
      <p:sp>
        <p:nvSpPr>
          <p:cNvPr id="448" name="Google Shape;448;h63a7b705bf8cfe3c_0_515"/>
          <p:cNvSpPr/>
          <p:nvPr/>
        </p:nvSpPr>
        <p:spPr>
          <a:xfrm>
            <a:off x="2075745" y="3612598"/>
            <a:ext cx="879900" cy="1464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h63a7b705bf8cfe3c_0_515"/>
          <p:cNvSpPr txBox="1"/>
          <p:nvPr/>
        </p:nvSpPr>
        <p:spPr>
          <a:xfrm>
            <a:off x="3465633" y="3594310"/>
            <a:ext cx="5670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$1,560</a:t>
            </a:r>
            <a:endParaRPr/>
          </a:p>
        </p:txBody>
      </p:sp>
      <p:sp>
        <p:nvSpPr>
          <p:cNvPr id="450" name="Google Shape;450;h63a7b705bf8cfe3c_0_515"/>
          <p:cNvSpPr txBox="1"/>
          <p:nvPr/>
        </p:nvSpPr>
        <p:spPr>
          <a:xfrm>
            <a:off x="841305" y="3868630"/>
            <a:ext cx="20118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Median % err: 4.0%</a:t>
            </a:r>
            <a:endParaRPr/>
          </a:p>
        </p:txBody>
      </p:sp>
      <p:sp>
        <p:nvSpPr>
          <p:cNvPr id="451" name="Google Shape;451;h63a7b705bf8cfe3c_0_515"/>
          <p:cNvSpPr/>
          <p:nvPr/>
        </p:nvSpPr>
        <p:spPr>
          <a:xfrm>
            <a:off x="841305" y="4472135"/>
            <a:ext cx="3246000" cy="694800"/>
          </a:xfrm>
          <a:prstGeom prst="roundRect">
            <a:avLst>
              <a:gd name="adj" fmla="val 16667"/>
            </a:avLst>
          </a:prstGeom>
          <a:solidFill>
            <a:srgbClr val="FCF6EE"/>
          </a:solidFill>
          <a:ln w="9525" cap="flat" cmpd="sng">
            <a:solidFill>
              <a:srgbClr val="EEDAC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h63a7b705bf8cfe3c_0_515"/>
          <p:cNvSpPr txBox="1"/>
          <p:nvPr/>
        </p:nvSpPr>
        <p:spPr>
          <a:xfrm>
            <a:off x="996753" y="4645871"/>
            <a:ext cx="29262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2019 → 2020 is the hardest period</a:t>
            </a:r>
            <a:endParaRPr/>
          </a:p>
        </p:txBody>
      </p:sp>
      <p:sp>
        <p:nvSpPr>
          <p:cNvPr id="453" name="Google Shape;453;h63a7b705bf8cfe3c_0_515"/>
          <p:cNvSpPr txBox="1"/>
          <p:nvPr/>
        </p:nvSpPr>
        <p:spPr>
          <a:xfrm>
            <a:off x="996753" y="4892759"/>
            <a:ext cx="2926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MAE ≈ 4.5× the 2018 level</a:t>
            </a:r>
            <a:endParaRPr/>
          </a:p>
        </p:txBody>
      </p:sp>
      <p:sp>
        <p:nvSpPr>
          <p:cNvPr id="454" name="Google Shape;454;h63a7b705bf8cfe3c_0_515"/>
          <p:cNvSpPr/>
          <p:nvPr/>
        </p:nvSpPr>
        <p:spPr>
          <a:xfrm>
            <a:off x="4544625" y="997415"/>
            <a:ext cx="3337500" cy="45264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h63a7b705bf8cfe3c_0_515"/>
          <p:cNvSpPr txBox="1"/>
          <p:nvPr/>
        </p:nvSpPr>
        <p:spPr>
          <a:xfrm>
            <a:off x="4818945" y="1271735"/>
            <a:ext cx="2651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2  What Drives Error?</a:t>
            </a:r>
            <a:endParaRPr/>
          </a:p>
        </p:txBody>
      </p:sp>
      <p:sp>
        <p:nvSpPr>
          <p:cNvPr id="456" name="Google Shape;456;h63a7b705bf8cfe3c_0_515"/>
          <p:cNvSpPr txBox="1"/>
          <p:nvPr/>
        </p:nvSpPr>
        <p:spPr>
          <a:xfrm>
            <a:off x="4818945" y="1728935"/>
            <a:ext cx="219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Size of GDP change</a:t>
            </a:r>
            <a:endParaRPr/>
          </a:p>
        </p:txBody>
      </p:sp>
      <p:sp>
        <p:nvSpPr>
          <p:cNvPr id="457" name="Google Shape;457;h63a7b705bf8cfe3c_0_515"/>
          <p:cNvSpPr txBox="1"/>
          <p:nvPr/>
        </p:nvSpPr>
        <p:spPr>
          <a:xfrm>
            <a:off x="4818945" y="2067263"/>
            <a:ext cx="1600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Smallest-change group</a:t>
            </a:r>
            <a:endParaRPr/>
          </a:p>
        </p:txBody>
      </p:sp>
      <p:sp>
        <p:nvSpPr>
          <p:cNvPr id="458" name="Google Shape;458;h63a7b705bf8cfe3c_0_515"/>
          <p:cNvSpPr txBox="1"/>
          <p:nvPr/>
        </p:nvSpPr>
        <p:spPr>
          <a:xfrm>
            <a:off x="6464865" y="2067263"/>
            <a:ext cx="1005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$532 MAE • 1.6%</a:t>
            </a:r>
            <a:endParaRPr/>
          </a:p>
        </p:txBody>
      </p:sp>
      <p:sp>
        <p:nvSpPr>
          <p:cNvPr id="459" name="Google Shape;459;h63a7b705bf8cfe3c_0_515"/>
          <p:cNvSpPr txBox="1"/>
          <p:nvPr/>
        </p:nvSpPr>
        <p:spPr>
          <a:xfrm>
            <a:off x="4818945" y="2387303"/>
            <a:ext cx="1600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Largest-change group</a:t>
            </a:r>
            <a:endParaRPr/>
          </a:p>
        </p:txBody>
      </p:sp>
      <p:sp>
        <p:nvSpPr>
          <p:cNvPr id="460" name="Google Shape;460;h63a7b705bf8cfe3c_0_515"/>
          <p:cNvSpPr txBox="1"/>
          <p:nvPr/>
        </p:nvSpPr>
        <p:spPr>
          <a:xfrm>
            <a:off x="6464865" y="2387303"/>
            <a:ext cx="1005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$3,449 • 11.0%</a:t>
            </a:r>
            <a:endParaRPr/>
          </a:p>
        </p:txBody>
      </p:sp>
      <p:sp>
        <p:nvSpPr>
          <p:cNvPr id="461" name="Google Shape;461;h63a7b705bf8cfe3c_0_515"/>
          <p:cNvSpPr txBox="1"/>
          <p:nvPr/>
        </p:nvSpPr>
        <p:spPr>
          <a:xfrm>
            <a:off x="4818945" y="2734775"/>
            <a:ext cx="2651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→ Sudden changes are much harder to predict</a:t>
            </a:r>
            <a:endParaRPr/>
          </a:p>
        </p:txBody>
      </p:sp>
      <p:sp>
        <p:nvSpPr>
          <p:cNvPr id="462" name="Google Shape;462;h63a7b705bf8cfe3c_0_515"/>
          <p:cNvSpPr txBox="1"/>
          <p:nvPr/>
        </p:nvSpPr>
        <p:spPr>
          <a:xfrm>
            <a:off x="4818945" y="3301703"/>
            <a:ext cx="21945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GDP level</a:t>
            </a:r>
            <a:endParaRPr/>
          </a:p>
        </p:txBody>
      </p:sp>
      <p:sp>
        <p:nvSpPr>
          <p:cNvPr id="463" name="Google Shape;463;h63a7b705bf8cfe3c_0_515"/>
          <p:cNvSpPr txBox="1"/>
          <p:nvPr/>
        </p:nvSpPr>
        <p:spPr>
          <a:xfrm>
            <a:off x="4818945" y="3630887"/>
            <a:ext cx="1508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Lowest quartile</a:t>
            </a:r>
            <a:endParaRPr/>
          </a:p>
        </p:txBody>
      </p:sp>
      <p:sp>
        <p:nvSpPr>
          <p:cNvPr id="464" name="Google Shape;464;h63a7b705bf8cfe3c_0_515"/>
          <p:cNvSpPr txBox="1"/>
          <p:nvPr/>
        </p:nvSpPr>
        <p:spPr>
          <a:xfrm>
            <a:off x="6483153" y="3630887"/>
            <a:ext cx="987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$136 MAE</a:t>
            </a:r>
            <a:endParaRPr/>
          </a:p>
        </p:txBody>
      </p:sp>
      <p:sp>
        <p:nvSpPr>
          <p:cNvPr id="465" name="Google Shape;465;h63a7b705bf8cfe3c_0_515"/>
          <p:cNvSpPr txBox="1"/>
          <p:nvPr/>
        </p:nvSpPr>
        <p:spPr>
          <a:xfrm>
            <a:off x="4818945" y="3950927"/>
            <a:ext cx="15087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Highest quartile</a:t>
            </a:r>
            <a:endParaRPr/>
          </a:p>
        </p:txBody>
      </p:sp>
      <p:sp>
        <p:nvSpPr>
          <p:cNvPr id="466" name="Google Shape;466;h63a7b705bf8cfe3c_0_515"/>
          <p:cNvSpPr txBox="1"/>
          <p:nvPr/>
        </p:nvSpPr>
        <p:spPr>
          <a:xfrm>
            <a:off x="6483153" y="3950927"/>
            <a:ext cx="987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$3,373 MAE</a:t>
            </a:r>
            <a:endParaRPr/>
          </a:p>
        </p:txBody>
      </p:sp>
      <p:sp>
        <p:nvSpPr>
          <p:cNvPr id="467" name="Google Shape;467;h63a7b705bf8cfe3c_0_515"/>
          <p:cNvSpPr txBox="1"/>
          <p:nvPr/>
        </p:nvSpPr>
        <p:spPr>
          <a:xfrm>
            <a:off x="4818945" y="4362407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Median % errors remain roughly</a:t>
            </a:r>
            <a:endParaRPr/>
          </a:p>
        </p:txBody>
      </p:sp>
      <p:sp>
        <p:nvSpPr>
          <p:cNvPr id="468" name="Google Shape;468;h63a7b705bf8cfe3c_0_515"/>
          <p:cNvSpPr txBox="1"/>
          <p:nvPr/>
        </p:nvSpPr>
        <p:spPr>
          <a:xfrm>
            <a:off x="4818945" y="4591007"/>
            <a:ext cx="26061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2.5%–5.2% across quartiles</a:t>
            </a:r>
            <a:endParaRPr/>
          </a:p>
        </p:txBody>
      </p:sp>
      <p:sp>
        <p:nvSpPr>
          <p:cNvPr id="469" name="Google Shape;469;h63a7b705bf8cfe3c_0_515"/>
          <p:cNvSpPr txBox="1"/>
          <p:nvPr/>
        </p:nvSpPr>
        <p:spPr>
          <a:xfrm>
            <a:off x="4818945" y="4938479"/>
            <a:ext cx="26517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→ Richer economies have larger dollar errors</a:t>
            </a:r>
            <a:endParaRPr/>
          </a:p>
        </p:txBody>
      </p:sp>
      <p:sp>
        <p:nvSpPr>
          <p:cNvPr id="470" name="Google Shape;470;h63a7b705bf8cfe3c_0_515"/>
          <p:cNvSpPr/>
          <p:nvPr/>
        </p:nvSpPr>
        <p:spPr>
          <a:xfrm>
            <a:off x="8065065" y="997415"/>
            <a:ext cx="3474600" cy="4526400"/>
          </a:xfrm>
          <a:prstGeom prst="roundRect">
            <a:avLst>
              <a:gd name="adj" fmla="val 16667"/>
            </a:avLst>
          </a:prstGeom>
          <a:solidFill>
            <a:srgbClr val="FCF6EE"/>
          </a:solidFill>
          <a:ln w="9525" cap="flat" cmpd="sng">
            <a:solidFill>
              <a:srgbClr val="EEDAC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h63a7b705bf8cfe3c_0_515"/>
          <p:cNvSpPr txBox="1"/>
          <p:nvPr/>
        </p:nvSpPr>
        <p:spPr>
          <a:xfrm>
            <a:off x="8339385" y="1271735"/>
            <a:ext cx="2651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3  Largest Errors</a:t>
            </a:r>
            <a:endParaRPr/>
          </a:p>
        </p:txBody>
      </p:sp>
      <p:sp>
        <p:nvSpPr>
          <p:cNvPr id="472" name="Google Shape;472;h63a7b705bf8cfe3c_0_515"/>
          <p:cNvSpPr txBox="1"/>
          <p:nvPr/>
        </p:nvSpPr>
        <p:spPr>
          <a:xfrm>
            <a:off x="8339385" y="1701503"/>
            <a:ext cx="21945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Largest single error</a:t>
            </a:r>
            <a:endParaRPr/>
          </a:p>
        </p:txBody>
      </p:sp>
      <p:sp>
        <p:nvSpPr>
          <p:cNvPr id="473" name="Google Shape;473;h63a7b705bf8cfe3c_0_515"/>
          <p:cNvSpPr txBox="1"/>
          <p:nvPr/>
        </p:nvSpPr>
        <p:spPr>
          <a:xfrm>
            <a:off x="8339385" y="2039831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Macao SAR, China</a:t>
            </a:r>
            <a:endParaRPr/>
          </a:p>
        </p:txBody>
      </p:sp>
      <p:sp>
        <p:nvSpPr>
          <p:cNvPr id="474" name="Google Shape;474;h63a7b705bf8cfe3c_0_515"/>
          <p:cNvSpPr txBox="1"/>
          <p:nvPr/>
        </p:nvSpPr>
        <p:spPr>
          <a:xfrm>
            <a:off x="8339385" y="2341583"/>
            <a:ext cx="2377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Predictor year: 2019</a:t>
            </a:r>
            <a:endParaRPr/>
          </a:p>
        </p:txBody>
      </p:sp>
      <p:sp>
        <p:nvSpPr>
          <p:cNvPr id="475" name="Google Shape;475;h63a7b705bf8cfe3c_0_515"/>
          <p:cNvSpPr txBox="1"/>
          <p:nvPr/>
        </p:nvSpPr>
        <p:spPr>
          <a:xfrm>
            <a:off x="8339385" y="2679911"/>
            <a:ext cx="1326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Current GDP</a:t>
            </a:r>
            <a:endParaRPr/>
          </a:p>
        </p:txBody>
      </p:sp>
      <p:sp>
        <p:nvSpPr>
          <p:cNvPr id="476" name="Google Shape;476;h63a7b705bf8cfe3c_0_515"/>
          <p:cNvSpPr txBox="1"/>
          <p:nvPr/>
        </p:nvSpPr>
        <p:spPr>
          <a:xfrm>
            <a:off x="10031025" y="2679911"/>
            <a:ext cx="1005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$133,454</a:t>
            </a:r>
            <a:endParaRPr/>
          </a:p>
        </p:txBody>
      </p:sp>
      <p:sp>
        <p:nvSpPr>
          <p:cNvPr id="477" name="Google Shape;477;h63a7b705bf8cfe3c_0_515"/>
          <p:cNvSpPr txBox="1"/>
          <p:nvPr/>
        </p:nvSpPr>
        <p:spPr>
          <a:xfrm>
            <a:off x="8339385" y="2981663"/>
            <a:ext cx="1326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Actual next year</a:t>
            </a:r>
            <a:endParaRPr/>
          </a:p>
        </p:txBody>
      </p:sp>
      <p:sp>
        <p:nvSpPr>
          <p:cNvPr id="478" name="Google Shape;478;h63a7b705bf8cfe3c_0_515"/>
          <p:cNvSpPr txBox="1"/>
          <p:nvPr/>
        </p:nvSpPr>
        <p:spPr>
          <a:xfrm>
            <a:off x="10031025" y="2981663"/>
            <a:ext cx="1005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$59,663</a:t>
            </a:r>
            <a:endParaRPr/>
          </a:p>
        </p:txBody>
      </p:sp>
      <p:sp>
        <p:nvSpPr>
          <p:cNvPr id="479" name="Google Shape;479;h63a7b705bf8cfe3c_0_515"/>
          <p:cNvSpPr txBox="1"/>
          <p:nvPr/>
        </p:nvSpPr>
        <p:spPr>
          <a:xfrm>
            <a:off x="8339385" y="3283415"/>
            <a:ext cx="1326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Predicted</a:t>
            </a:r>
            <a:endParaRPr/>
          </a:p>
        </p:txBody>
      </p:sp>
      <p:sp>
        <p:nvSpPr>
          <p:cNvPr id="480" name="Google Shape;480;h63a7b705bf8cfe3c_0_515"/>
          <p:cNvSpPr txBox="1"/>
          <p:nvPr/>
        </p:nvSpPr>
        <p:spPr>
          <a:xfrm>
            <a:off x="10031025" y="3283415"/>
            <a:ext cx="10059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$128,832</a:t>
            </a:r>
            <a:endParaRPr/>
          </a:p>
        </p:txBody>
      </p:sp>
      <p:sp>
        <p:nvSpPr>
          <p:cNvPr id="481" name="Google Shape;481;h63a7b705bf8cfe3c_0_515"/>
          <p:cNvSpPr txBox="1"/>
          <p:nvPr/>
        </p:nvSpPr>
        <p:spPr>
          <a:xfrm>
            <a:off x="8339385" y="3585166"/>
            <a:ext cx="1326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Absolute error</a:t>
            </a:r>
            <a:endParaRPr/>
          </a:p>
        </p:txBody>
      </p:sp>
      <p:sp>
        <p:nvSpPr>
          <p:cNvPr id="482" name="Google Shape;482;h63a7b705bf8cfe3c_0_515"/>
          <p:cNvSpPr txBox="1"/>
          <p:nvPr/>
        </p:nvSpPr>
        <p:spPr>
          <a:xfrm>
            <a:off x="10031025" y="3585166"/>
            <a:ext cx="10059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$69,169</a:t>
            </a:r>
            <a:endParaRPr/>
          </a:p>
        </p:txBody>
      </p:sp>
      <p:sp>
        <p:nvSpPr>
          <p:cNvPr id="483" name="Google Shape;483;h63a7b705bf8cfe3c_0_515"/>
          <p:cNvSpPr txBox="1"/>
          <p:nvPr/>
        </p:nvSpPr>
        <p:spPr>
          <a:xfrm>
            <a:off x="8339385" y="3950927"/>
            <a:ext cx="2423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B84848"/>
                </a:solidFill>
                <a:latin typeface="Calibri"/>
                <a:ea typeface="Calibri"/>
                <a:cs typeface="Calibri"/>
                <a:sym typeface="Calibri"/>
              </a:rPr>
              <a:t>Actual GDP change: −55.3%</a:t>
            </a:r>
            <a:endParaRPr/>
          </a:p>
        </p:txBody>
      </p:sp>
      <p:sp>
        <p:nvSpPr>
          <p:cNvPr id="484" name="Google Shape;484;h63a7b705bf8cfe3c_0_515"/>
          <p:cNvSpPr txBox="1"/>
          <p:nvPr/>
        </p:nvSpPr>
        <p:spPr>
          <a:xfrm>
            <a:off x="8339385" y="4389839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Error concentration</a:t>
            </a:r>
            <a:endParaRPr/>
          </a:p>
        </p:txBody>
      </p:sp>
      <p:sp>
        <p:nvSpPr>
          <p:cNvPr id="485" name="Google Shape;485;h63a7b705bf8cfe3c_0_515"/>
          <p:cNvSpPr txBox="1"/>
          <p:nvPr/>
        </p:nvSpPr>
        <p:spPr>
          <a:xfrm>
            <a:off x="8339385" y="4700735"/>
            <a:ext cx="2697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10 countries → 29.2% of total error</a:t>
            </a:r>
            <a:endParaRPr/>
          </a:p>
        </p:txBody>
      </p:sp>
      <p:sp>
        <p:nvSpPr>
          <p:cNvPr id="486" name="Google Shape;486;h63a7b705bf8cfe3c_0_515"/>
          <p:cNvSpPr txBox="1"/>
          <p:nvPr/>
        </p:nvSpPr>
        <p:spPr>
          <a:xfrm>
            <a:off x="8339385" y="4975055"/>
            <a:ext cx="2697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5% observations → 33.9%</a:t>
            </a:r>
            <a:endParaRPr/>
          </a:p>
        </p:txBody>
      </p:sp>
      <p:sp>
        <p:nvSpPr>
          <p:cNvPr id="487" name="Google Shape;487;h63a7b705bf8cfe3c_0_515"/>
          <p:cNvSpPr/>
          <p:nvPr/>
        </p:nvSpPr>
        <p:spPr>
          <a:xfrm>
            <a:off x="768153" y="5706575"/>
            <a:ext cx="10607100" cy="5211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h63a7b705bf8cfe3c_0_515"/>
          <p:cNvSpPr txBox="1"/>
          <p:nvPr/>
        </p:nvSpPr>
        <p:spPr>
          <a:xfrm>
            <a:off x="960177" y="5862023"/>
            <a:ext cx="10195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Main finding: the generalization gap is concentrated in sudden economic changes—especially the 2020 shock and subsequent rebound.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4d99ccb46f147202_0_0"/>
          <p:cNvSpPr/>
          <p:nvPr/>
        </p:nvSpPr>
        <p:spPr>
          <a:xfrm>
            <a:off x="-1005840" y="-1005840"/>
            <a:ext cx="4023300" cy="4023300"/>
          </a:xfrm>
          <a:prstGeom prst="ellipse">
            <a:avLst/>
          </a:prstGeom>
          <a:solidFill>
            <a:srgbClr val="694CB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h4d99ccb46f147202_0_0"/>
          <p:cNvSpPr/>
          <p:nvPr/>
        </p:nvSpPr>
        <p:spPr>
          <a:xfrm>
            <a:off x="9601200" y="4389120"/>
            <a:ext cx="3840600" cy="3840600"/>
          </a:xfrm>
          <a:prstGeom prst="ellipse">
            <a:avLst/>
          </a:prstGeom>
          <a:solidFill>
            <a:srgbClr val="3769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h4d99ccb46f147202_0_0"/>
          <p:cNvSpPr/>
          <p:nvPr/>
        </p:nvSpPr>
        <p:spPr>
          <a:xfrm>
            <a:off x="9052560" y="-1554480"/>
            <a:ext cx="2743200" cy="2743200"/>
          </a:xfrm>
          <a:prstGeom prst="ellipse">
            <a:avLst/>
          </a:prstGeom>
          <a:solidFill>
            <a:srgbClr val="694CB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h4d99ccb46f147202_0_0"/>
          <p:cNvSpPr/>
          <p:nvPr/>
        </p:nvSpPr>
        <p:spPr>
          <a:xfrm>
            <a:off x="5355113" y="1311913"/>
            <a:ext cx="1645800" cy="54900"/>
          </a:xfrm>
          <a:prstGeom prst="rect">
            <a:avLst/>
          </a:prstGeom>
          <a:solidFill>
            <a:srgbClr val="9980E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h4d99ccb46f147202_0_0"/>
          <p:cNvSpPr txBox="1"/>
          <p:nvPr/>
        </p:nvSpPr>
        <p:spPr>
          <a:xfrm>
            <a:off x="993425" y="1549657"/>
            <a:ext cx="10360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98" name="Google Shape;498;h4d99ccb46f147202_0_0"/>
          <p:cNvSpPr txBox="1"/>
          <p:nvPr/>
        </p:nvSpPr>
        <p:spPr>
          <a:xfrm>
            <a:off x="993425" y="2116585"/>
            <a:ext cx="10360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listening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99" name="Google Shape;499;h4d99ccb46f147202_0_0"/>
          <p:cNvSpPr/>
          <p:nvPr/>
        </p:nvSpPr>
        <p:spPr>
          <a:xfrm>
            <a:off x="2822225" y="2848105"/>
            <a:ext cx="6702600" cy="1874400"/>
          </a:xfrm>
          <a:prstGeom prst="roundRect">
            <a:avLst>
              <a:gd name="adj" fmla="val 16667"/>
            </a:avLst>
          </a:prstGeom>
          <a:solidFill>
            <a:srgbClr val="F6F1FB"/>
          </a:solidFill>
          <a:ln w="9525" cap="flat" cmpd="sng">
            <a:solidFill>
              <a:srgbClr val="B0B9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h4d99ccb46f147202_0_0"/>
          <p:cNvSpPr txBox="1"/>
          <p:nvPr/>
        </p:nvSpPr>
        <p:spPr>
          <a:xfrm>
            <a:off x="3142265" y="3159001"/>
            <a:ext cx="6062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  &amp;  A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501" name="Google Shape;501;h4d99ccb46f147202_0_0"/>
          <p:cNvSpPr txBox="1"/>
          <p:nvPr/>
        </p:nvSpPr>
        <p:spPr>
          <a:xfrm>
            <a:off x="3142265" y="3844801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 •  Comments  •  Discussion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502" name="Google Shape;502;h4d99ccb46f147202_0_0"/>
          <p:cNvSpPr txBox="1"/>
          <p:nvPr/>
        </p:nvSpPr>
        <p:spPr>
          <a:xfrm>
            <a:off x="3142265" y="4201416"/>
            <a:ext cx="6062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We'd be happy to hear your questions.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503" name="Google Shape;503;h4d99ccb46f147202_0_0"/>
          <p:cNvSpPr/>
          <p:nvPr/>
        </p:nvSpPr>
        <p:spPr>
          <a:xfrm>
            <a:off x="5797296" y="5989320"/>
            <a:ext cx="82200" cy="82200"/>
          </a:xfrm>
          <a:prstGeom prst="ellipse">
            <a:avLst/>
          </a:prstGeom>
          <a:solidFill>
            <a:srgbClr val="694CB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h4d99ccb46f147202_0_0"/>
          <p:cNvSpPr/>
          <p:nvPr/>
        </p:nvSpPr>
        <p:spPr>
          <a:xfrm>
            <a:off x="6007608" y="5989320"/>
            <a:ext cx="82200" cy="82200"/>
          </a:xfrm>
          <a:prstGeom prst="ellipse">
            <a:avLst/>
          </a:prstGeom>
          <a:solidFill>
            <a:srgbClr val="8E73DD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h4d99ccb46f147202_0_0"/>
          <p:cNvSpPr/>
          <p:nvPr/>
        </p:nvSpPr>
        <p:spPr>
          <a:xfrm>
            <a:off x="6217920" y="5989320"/>
            <a:ext cx="82200" cy="82200"/>
          </a:xfrm>
          <a:prstGeom prst="ellipse">
            <a:avLst/>
          </a:prstGeom>
          <a:solidFill>
            <a:srgbClr val="3769E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h4d99ccb46f147202_1_7"/>
          <p:cNvSpPr txBox="1"/>
          <p:nvPr/>
        </p:nvSpPr>
        <p:spPr>
          <a:xfrm>
            <a:off x="594360" y="320040"/>
            <a:ext cx="10972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Appendix 1. </a:t>
            </a:r>
            <a:r>
              <a:rPr lang="en-US" sz="230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/>
          </a:p>
        </p:txBody>
      </p:sp>
      <p:sp>
        <p:nvSpPr>
          <p:cNvPr id="511" name="Google Shape;511;h4d99ccb46f147202_1_7"/>
          <p:cNvSpPr/>
          <p:nvPr/>
        </p:nvSpPr>
        <p:spPr>
          <a:xfrm>
            <a:off x="594360" y="1051560"/>
            <a:ext cx="3401700" cy="49836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4d99ccb46f147202_1_7"/>
          <p:cNvSpPr/>
          <p:nvPr/>
        </p:nvSpPr>
        <p:spPr>
          <a:xfrm>
            <a:off x="4315968" y="1051560"/>
            <a:ext cx="3401700" cy="49836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4d99ccb46f147202_1_7"/>
          <p:cNvSpPr/>
          <p:nvPr/>
        </p:nvSpPr>
        <p:spPr>
          <a:xfrm>
            <a:off x="8046720" y="1051560"/>
            <a:ext cx="3401700" cy="49836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4d99ccb46f147202_1_7"/>
          <p:cNvSpPr txBox="1"/>
          <p:nvPr/>
        </p:nvSpPr>
        <p:spPr>
          <a:xfrm>
            <a:off x="896112" y="138988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  Permutation Importance</a:t>
            </a:r>
            <a:endParaRPr/>
          </a:p>
        </p:txBody>
      </p:sp>
      <p:sp>
        <p:nvSpPr>
          <p:cNvPr id="515" name="Google Shape;515;h4d99ccb46f147202_1_7"/>
          <p:cNvSpPr txBox="1"/>
          <p:nvPr/>
        </p:nvSpPr>
        <p:spPr>
          <a:xfrm>
            <a:off x="896112" y="1737360"/>
            <a:ext cx="2743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Training-period ranking • Country excluded</a:t>
            </a:r>
            <a:endParaRPr/>
          </a:p>
        </p:txBody>
      </p:sp>
      <p:sp>
        <p:nvSpPr>
          <p:cNvPr id="516" name="Google Shape;516;h4d99ccb46f147202_1_7"/>
          <p:cNvSpPr txBox="1"/>
          <p:nvPr/>
        </p:nvSpPr>
        <p:spPr>
          <a:xfrm>
            <a:off x="896112" y="2148840"/>
            <a:ext cx="2286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Top 10 ranked predictors</a:t>
            </a:r>
            <a:endParaRPr/>
          </a:p>
        </p:txBody>
      </p:sp>
      <p:sp>
        <p:nvSpPr>
          <p:cNvPr id="517" name="Google Shape;517;h4d99ccb46f147202_1_7"/>
          <p:cNvSpPr txBox="1"/>
          <p:nvPr/>
        </p:nvSpPr>
        <p:spPr>
          <a:xfrm>
            <a:off x="914400" y="2514600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1. Current GDP per capita</a:t>
            </a:r>
            <a:endParaRPr/>
          </a:p>
        </p:txBody>
      </p:sp>
      <p:sp>
        <p:nvSpPr>
          <p:cNvPr id="518" name="Google Shape;518;h4d99ccb46f147202_1_7"/>
          <p:cNvSpPr txBox="1"/>
          <p:nvPr/>
        </p:nvSpPr>
        <p:spPr>
          <a:xfrm>
            <a:off x="3154680" y="2514600"/>
            <a:ext cx="4755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24,167.8</a:t>
            </a:r>
            <a:endParaRPr/>
          </a:p>
        </p:txBody>
      </p:sp>
      <p:sp>
        <p:nvSpPr>
          <p:cNvPr id="519" name="Google Shape;519;h4d99ccb46f147202_1_7"/>
          <p:cNvSpPr txBox="1"/>
          <p:nvPr/>
        </p:nvSpPr>
        <p:spPr>
          <a:xfrm>
            <a:off x="914400" y="2798064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2. Inflation</a:t>
            </a:r>
            <a:endParaRPr/>
          </a:p>
        </p:txBody>
      </p:sp>
      <p:sp>
        <p:nvSpPr>
          <p:cNvPr id="520" name="Google Shape;520;h4d99ccb46f147202_1_7"/>
          <p:cNvSpPr txBox="1"/>
          <p:nvPr/>
        </p:nvSpPr>
        <p:spPr>
          <a:xfrm>
            <a:off x="3154680" y="2798064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50.1</a:t>
            </a:r>
            <a:endParaRPr/>
          </a:p>
        </p:txBody>
      </p:sp>
      <p:sp>
        <p:nvSpPr>
          <p:cNvPr id="521" name="Google Shape;521;h4d99ccb46f147202_1_7"/>
          <p:cNvSpPr txBox="1"/>
          <p:nvPr/>
        </p:nvSpPr>
        <p:spPr>
          <a:xfrm>
            <a:off x="914400" y="3081528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3. Electric power consumption</a:t>
            </a:r>
            <a:endParaRPr/>
          </a:p>
        </p:txBody>
      </p:sp>
      <p:sp>
        <p:nvSpPr>
          <p:cNvPr id="522" name="Google Shape;522;h4d99ccb46f147202_1_7"/>
          <p:cNvSpPr txBox="1"/>
          <p:nvPr/>
        </p:nvSpPr>
        <p:spPr>
          <a:xfrm>
            <a:off x="3154680" y="3081528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18.3</a:t>
            </a:r>
            <a:endParaRPr/>
          </a:p>
        </p:txBody>
      </p:sp>
      <p:sp>
        <p:nvSpPr>
          <p:cNvPr id="523" name="Google Shape;523;h4d99ccb46f147202_1_7"/>
          <p:cNvSpPr txBox="1"/>
          <p:nvPr/>
        </p:nvSpPr>
        <p:spPr>
          <a:xfrm>
            <a:off x="914400" y="3364992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4. Energy use per capita</a:t>
            </a:r>
            <a:endParaRPr/>
          </a:p>
        </p:txBody>
      </p:sp>
      <p:sp>
        <p:nvSpPr>
          <p:cNvPr id="524" name="Google Shape;524;h4d99ccb46f147202_1_7"/>
          <p:cNvSpPr txBox="1"/>
          <p:nvPr/>
        </p:nvSpPr>
        <p:spPr>
          <a:xfrm>
            <a:off x="3154680" y="3364992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17.3</a:t>
            </a:r>
            <a:endParaRPr/>
          </a:p>
        </p:txBody>
      </p:sp>
      <p:sp>
        <p:nvSpPr>
          <p:cNvPr id="525" name="Google Shape;525;h4d99ccb46f147202_1_7"/>
          <p:cNvSpPr txBox="1"/>
          <p:nvPr/>
        </p:nvSpPr>
        <p:spPr>
          <a:xfrm>
            <a:off x="914400" y="3648456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5. CO₂ emissions per capita</a:t>
            </a:r>
            <a:endParaRPr/>
          </a:p>
        </p:txBody>
      </p:sp>
      <p:sp>
        <p:nvSpPr>
          <p:cNvPr id="526" name="Google Shape;526;h4d99ccb46f147202_1_7"/>
          <p:cNvSpPr txBox="1"/>
          <p:nvPr/>
        </p:nvSpPr>
        <p:spPr>
          <a:xfrm>
            <a:off x="3154680" y="3648456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16.9</a:t>
            </a:r>
            <a:endParaRPr/>
          </a:p>
        </p:txBody>
      </p:sp>
      <p:sp>
        <p:nvSpPr>
          <p:cNvPr id="527" name="Google Shape;527;h4d99ccb46f147202_1_7"/>
          <p:cNvSpPr txBox="1"/>
          <p:nvPr/>
        </p:nvSpPr>
        <p:spPr>
          <a:xfrm>
            <a:off x="914400" y="3931920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6. Urban population</a:t>
            </a:r>
            <a:endParaRPr/>
          </a:p>
        </p:txBody>
      </p:sp>
      <p:sp>
        <p:nvSpPr>
          <p:cNvPr id="528" name="Google Shape;528;h4d99ccb46f147202_1_7"/>
          <p:cNvSpPr txBox="1"/>
          <p:nvPr/>
        </p:nvSpPr>
        <p:spPr>
          <a:xfrm>
            <a:off x="3154680" y="3931920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14.0</a:t>
            </a:r>
            <a:endParaRPr/>
          </a:p>
        </p:txBody>
      </p:sp>
      <p:sp>
        <p:nvSpPr>
          <p:cNvPr id="529" name="Google Shape;529;h4d99ccb46f147202_1_7"/>
          <p:cNvSpPr txBox="1"/>
          <p:nvPr/>
        </p:nvSpPr>
        <p:spPr>
          <a:xfrm>
            <a:off x="914400" y="4215383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7. GDP per capita growth</a:t>
            </a:r>
            <a:endParaRPr/>
          </a:p>
        </p:txBody>
      </p:sp>
      <p:sp>
        <p:nvSpPr>
          <p:cNvPr id="530" name="Google Shape;530;h4d99ccb46f147202_1_7"/>
          <p:cNvSpPr txBox="1"/>
          <p:nvPr/>
        </p:nvSpPr>
        <p:spPr>
          <a:xfrm>
            <a:off x="3154680" y="4215383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/>
          </a:p>
        </p:txBody>
      </p:sp>
      <p:sp>
        <p:nvSpPr>
          <p:cNvPr id="531" name="Google Shape;531;h4d99ccb46f147202_1_7"/>
          <p:cNvSpPr txBox="1"/>
          <p:nvPr/>
        </p:nvSpPr>
        <p:spPr>
          <a:xfrm>
            <a:off x="914400" y="4498847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8. Renewable energy consumption</a:t>
            </a:r>
            <a:endParaRPr/>
          </a:p>
        </p:txBody>
      </p:sp>
      <p:sp>
        <p:nvSpPr>
          <p:cNvPr id="532" name="Google Shape;532;h4d99ccb46f147202_1_7"/>
          <p:cNvSpPr txBox="1"/>
          <p:nvPr/>
        </p:nvSpPr>
        <p:spPr>
          <a:xfrm>
            <a:off x="3154680" y="4498847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9.2</a:t>
            </a:r>
            <a:endParaRPr/>
          </a:p>
        </p:txBody>
      </p:sp>
      <p:sp>
        <p:nvSpPr>
          <p:cNvPr id="533" name="Google Shape;533;h4d99ccb46f147202_1_7"/>
          <p:cNvSpPr txBox="1"/>
          <p:nvPr/>
        </p:nvSpPr>
        <p:spPr>
          <a:xfrm>
            <a:off x="914400" y="4782311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9. Internet use</a:t>
            </a:r>
            <a:endParaRPr/>
          </a:p>
        </p:txBody>
      </p:sp>
      <p:sp>
        <p:nvSpPr>
          <p:cNvPr id="534" name="Google Shape;534;h4d99ccb46f147202_1_7"/>
          <p:cNvSpPr txBox="1"/>
          <p:nvPr/>
        </p:nvSpPr>
        <p:spPr>
          <a:xfrm>
            <a:off x="3154680" y="4782311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/>
          </a:p>
        </p:txBody>
      </p:sp>
      <p:sp>
        <p:nvSpPr>
          <p:cNvPr id="535" name="Google Shape;535;h4d99ccb46f147202_1_7"/>
          <p:cNvSpPr txBox="1"/>
          <p:nvPr/>
        </p:nvSpPr>
        <p:spPr>
          <a:xfrm>
            <a:off x="914400" y="5065775"/>
            <a:ext cx="22404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10. Energy intensity</a:t>
            </a:r>
            <a:endParaRPr/>
          </a:p>
        </p:txBody>
      </p:sp>
      <p:sp>
        <p:nvSpPr>
          <p:cNvPr id="536" name="Google Shape;536;h4d99ccb46f147202_1_7"/>
          <p:cNvSpPr txBox="1"/>
          <p:nvPr/>
        </p:nvSpPr>
        <p:spPr>
          <a:xfrm>
            <a:off x="3154680" y="5065775"/>
            <a:ext cx="4755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0" b="1" i="0" u="none" strike="noStrike" cap="none">
                <a:solidFill>
                  <a:srgbClr val="2D5EE6"/>
                </a:solidFill>
                <a:latin typeface="Calibri"/>
                <a:ea typeface="Calibri"/>
                <a:cs typeface="Calibri"/>
                <a:sym typeface="Calibri"/>
              </a:rPr>
              <a:t>7.0</a:t>
            </a:r>
            <a:endParaRPr/>
          </a:p>
        </p:txBody>
      </p:sp>
      <p:sp>
        <p:nvSpPr>
          <p:cNvPr id="537" name="Google Shape;537;h4d99ccb46f147202_1_7"/>
          <p:cNvSpPr txBox="1"/>
          <p:nvPr/>
        </p:nvSpPr>
        <p:spPr>
          <a:xfrm>
            <a:off x="914400" y="5468112"/>
            <a:ext cx="269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Value = mean increase in MAE after shuffling</a:t>
            </a:r>
            <a:endParaRPr/>
          </a:p>
        </p:txBody>
      </p:sp>
      <p:sp>
        <p:nvSpPr>
          <p:cNvPr id="538" name="Google Shape;538;h4d99ccb46f147202_1_7"/>
          <p:cNvSpPr txBox="1"/>
          <p:nvPr/>
        </p:nvSpPr>
        <p:spPr>
          <a:xfrm>
            <a:off x="4617720" y="138988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8691E"/>
                </a:solidFill>
                <a:latin typeface="Calibri"/>
                <a:ea typeface="Calibri"/>
                <a:cs typeface="Calibri"/>
                <a:sym typeface="Calibri"/>
              </a:rPr>
              <a:t>2  Chronological Validation</a:t>
            </a:r>
            <a:endParaRPr/>
          </a:p>
        </p:txBody>
      </p:sp>
      <p:sp>
        <p:nvSpPr>
          <p:cNvPr id="539" name="Google Shape;539;h4d99ccb46f147202_1_7"/>
          <p:cNvSpPr txBox="1"/>
          <p:nvPr/>
        </p:nvSpPr>
        <p:spPr>
          <a:xfrm>
            <a:off x="4617720" y="1737360"/>
            <a:ext cx="27432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5-Fold Expanding-Window Validation</a:t>
            </a:r>
            <a:endParaRPr/>
          </a:p>
        </p:txBody>
      </p:sp>
      <p:sp>
        <p:nvSpPr>
          <p:cNvPr id="540" name="Google Shape;540;h4d99ccb46f147202_1_7"/>
          <p:cNvSpPr txBox="1"/>
          <p:nvPr/>
        </p:nvSpPr>
        <p:spPr>
          <a:xfrm>
            <a:off x="4617720" y="2011680"/>
            <a:ext cx="27432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Train on past → validate on next period</a:t>
            </a:r>
            <a:endParaRPr/>
          </a:p>
        </p:txBody>
      </p:sp>
      <p:sp>
        <p:nvSpPr>
          <p:cNvPr id="541" name="Google Shape;541;h4d99ccb46f147202_1_7"/>
          <p:cNvSpPr txBox="1"/>
          <p:nvPr/>
        </p:nvSpPr>
        <p:spPr>
          <a:xfrm>
            <a:off x="4709160" y="2441448"/>
            <a:ext cx="10974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Feature set</a:t>
            </a:r>
            <a:endParaRPr/>
          </a:p>
        </p:txBody>
      </p:sp>
      <p:sp>
        <p:nvSpPr>
          <p:cNvPr id="542" name="Google Shape;542;h4d99ccb46f147202_1_7"/>
          <p:cNvSpPr txBox="1"/>
          <p:nvPr/>
        </p:nvSpPr>
        <p:spPr>
          <a:xfrm>
            <a:off x="6144768" y="2441448"/>
            <a:ext cx="12345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5-Fold Avg. MAE</a:t>
            </a:r>
            <a:endParaRPr/>
          </a:p>
        </p:txBody>
      </p:sp>
      <p:sp>
        <p:nvSpPr>
          <p:cNvPr id="543" name="Google Shape;543;h4d99ccb46f147202_1_7"/>
          <p:cNvSpPr/>
          <p:nvPr/>
        </p:nvSpPr>
        <p:spPr>
          <a:xfrm>
            <a:off x="4617720" y="2770632"/>
            <a:ext cx="2743200" cy="43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h4d99ccb46f147202_1_7"/>
          <p:cNvSpPr txBox="1"/>
          <p:nvPr/>
        </p:nvSpPr>
        <p:spPr>
          <a:xfrm>
            <a:off x="4800600" y="2898648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3</a:t>
            </a:r>
            <a:endParaRPr/>
          </a:p>
        </p:txBody>
      </p:sp>
      <p:sp>
        <p:nvSpPr>
          <p:cNvPr id="545" name="Google Shape;545;h4d99ccb46f147202_1_7"/>
          <p:cNvSpPr txBox="1"/>
          <p:nvPr/>
        </p:nvSpPr>
        <p:spPr>
          <a:xfrm>
            <a:off x="6126480" y="2898648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$666.04</a:t>
            </a:r>
            <a:endParaRPr/>
          </a:p>
        </p:txBody>
      </p:sp>
      <p:sp>
        <p:nvSpPr>
          <p:cNvPr id="546" name="Google Shape;546;h4d99ccb46f147202_1_7"/>
          <p:cNvSpPr/>
          <p:nvPr/>
        </p:nvSpPr>
        <p:spPr>
          <a:xfrm>
            <a:off x="4617720" y="3300984"/>
            <a:ext cx="2743200" cy="43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h4d99ccb46f147202_1_7"/>
          <p:cNvSpPr txBox="1"/>
          <p:nvPr/>
        </p:nvSpPr>
        <p:spPr>
          <a:xfrm>
            <a:off x="4800600" y="3429000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5</a:t>
            </a:r>
            <a:endParaRPr/>
          </a:p>
        </p:txBody>
      </p:sp>
      <p:sp>
        <p:nvSpPr>
          <p:cNvPr id="548" name="Google Shape;548;h4d99ccb46f147202_1_7"/>
          <p:cNvSpPr txBox="1"/>
          <p:nvPr/>
        </p:nvSpPr>
        <p:spPr>
          <a:xfrm>
            <a:off x="6126480" y="3429000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$642.86</a:t>
            </a:r>
            <a:endParaRPr/>
          </a:p>
        </p:txBody>
      </p:sp>
      <p:sp>
        <p:nvSpPr>
          <p:cNvPr id="549" name="Google Shape;549;h4d99ccb46f147202_1_7"/>
          <p:cNvSpPr/>
          <p:nvPr/>
        </p:nvSpPr>
        <p:spPr>
          <a:xfrm>
            <a:off x="4617720" y="3831335"/>
            <a:ext cx="2743200" cy="438900"/>
          </a:xfrm>
          <a:prstGeom prst="roundRect">
            <a:avLst>
              <a:gd name="adj" fmla="val 16667"/>
            </a:avLst>
          </a:prstGeom>
          <a:solidFill>
            <a:srgbClr val="EBF7E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h4d99ccb46f147202_1_7"/>
          <p:cNvSpPr txBox="1"/>
          <p:nvPr/>
        </p:nvSpPr>
        <p:spPr>
          <a:xfrm>
            <a:off x="4800600" y="3959351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Top 10</a:t>
            </a:r>
            <a:endParaRPr/>
          </a:p>
        </p:txBody>
      </p:sp>
      <p:sp>
        <p:nvSpPr>
          <p:cNvPr id="551" name="Google Shape;551;h4d99ccb46f147202_1_7"/>
          <p:cNvSpPr txBox="1"/>
          <p:nvPr/>
        </p:nvSpPr>
        <p:spPr>
          <a:xfrm>
            <a:off x="6126480" y="3959351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$582.29</a:t>
            </a:r>
            <a:endParaRPr/>
          </a:p>
        </p:txBody>
      </p:sp>
      <p:sp>
        <p:nvSpPr>
          <p:cNvPr id="552" name="Google Shape;552;h4d99ccb46f147202_1_7"/>
          <p:cNvSpPr/>
          <p:nvPr/>
        </p:nvSpPr>
        <p:spPr>
          <a:xfrm>
            <a:off x="4617720" y="4361688"/>
            <a:ext cx="2743200" cy="43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h4d99ccb46f147202_1_7"/>
          <p:cNvSpPr txBox="1"/>
          <p:nvPr/>
        </p:nvSpPr>
        <p:spPr>
          <a:xfrm>
            <a:off x="4800600" y="4489703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15</a:t>
            </a:r>
            <a:endParaRPr/>
          </a:p>
        </p:txBody>
      </p:sp>
      <p:sp>
        <p:nvSpPr>
          <p:cNvPr id="554" name="Google Shape;554;h4d99ccb46f147202_1_7"/>
          <p:cNvSpPr txBox="1"/>
          <p:nvPr/>
        </p:nvSpPr>
        <p:spPr>
          <a:xfrm>
            <a:off x="6126480" y="4489703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$618.88</a:t>
            </a:r>
            <a:endParaRPr/>
          </a:p>
        </p:txBody>
      </p:sp>
      <p:sp>
        <p:nvSpPr>
          <p:cNvPr id="555" name="Google Shape;555;h4d99ccb46f147202_1_7"/>
          <p:cNvSpPr/>
          <p:nvPr/>
        </p:nvSpPr>
        <p:spPr>
          <a:xfrm>
            <a:off x="4617720" y="4892040"/>
            <a:ext cx="2743200" cy="438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h4d99ccb46f147202_1_7"/>
          <p:cNvSpPr txBox="1"/>
          <p:nvPr/>
        </p:nvSpPr>
        <p:spPr>
          <a:xfrm>
            <a:off x="4800600" y="5020055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20</a:t>
            </a:r>
            <a:endParaRPr/>
          </a:p>
        </p:txBody>
      </p:sp>
      <p:sp>
        <p:nvSpPr>
          <p:cNvPr id="557" name="Google Shape;557;h4d99ccb46f147202_1_7"/>
          <p:cNvSpPr txBox="1"/>
          <p:nvPr/>
        </p:nvSpPr>
        <p:spPr>
          <a:xfrm>
            <a:off x="6126480" y="5020055"/>
            <a:ext cx="100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$623.71</a:t>
            </a:r>
            <a:endParaRPr/>
          </a:p>
        </p:txBody>
      </p:sp>
      <p:sp>
        <p:nvSpPr>
          <p:cNvPr id="558" name="Google Shape;558;h4d99ccb46f147202_1_7"/>
          <p:cNvSpPr txBox="1"/>
          <p:nvPr/>
        </p:nvSpPr>
        <p:spPr>
          <a:xfrm>
            <a:off x="4663440" y="5468112"/>
            <a:ext cx="1417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Selected: Top 10</a:t>
            </a:r>
            <a:endParaRPr/>
          </a:p>
        </p:txBody>
      </p:sp>
      <p:sp>
        <p:nvSpPr>
          <p:cNvPr id="559" name="Google Shape;559;h4d99ccb46f147202_1_7"/>
          <p:cNvSpPr txBox="1"/>
          <p:nvPr/>
        </p:nvSpPr>
        <p:spPr>
          <a:xfrm>
            <a:off x="5897880" y="5468112"/>
            <a:ext cx="13260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Lowest average MAE across 5 folds</a:t>
            </a:r>
            <a:endParaRPr/>
          </a:p>
        </p:txBody>
      </p:sp>
      <p:sp>
        <p:nvSpPr>
          <p:cNvPr id="560" name="Google Shape;560;h4d99ccb46f147202_1_7"/>
          <p:cNvSpPr txBox="1"/>
          <p:nvPr/>
        </p:nvSpPr>
        <p:spPr>
          <a:xfrm>
            <a:off x="8348472" y="138988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C43BE"/>
                </a:solidFill>
                <a:latin typeface="Calibri"/>
                <a:ea typeface="Calibri"/>
                <a:cs typeface="Calibri"/>
                <a:sym typeface="Calibri"/>
              </a:rPr>
              <a:t>3  Final Input Checks</a:t>
            </a:r>
            <a:endParaRPr/>
          </a:p>
        </p:txBody>
      </p:sp>
      <p:sp>
        <p:nvSpPr>
          <p:cNvPr id="561" name="Google Shape;561;h4d99ccb46f147202_1_7"/>
          <p:cNvSpPr txBox="1"/>
          <p:nvPr/>
        </p:nvSpPr>
        <p:spPr>
          <a:xfrm>
            <a:off x="8348472" y="1856231"/>
            <a:ext cx="2469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Missing indicators</a:t>
            </a:r>
            <a:endParaRPr/>
          </a:p>
        </p:txBody>
      </p:sp>
      <p:sp>
        <p:nvSpPr>
          <p:cNvPr id="562" name="Google Shape;562;h4d99ccb46f147202_1_7"/>
          <p:cNvSpPr txBox="1"/>
          <p:nvPr/>
        </p:nvSpPr>
        <p:spPr>
          <a:xfrm>
            <a:off x="8348472" y="2221992"/>
            <a:ext cx="13716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Top 10 only</a:t>
            </a:r>
            <a:endParaRPr/>
          </a:p>
        </p:txBody>
      </p:sp>
      <p:sp>
        <p:nvSpPr>
          <p:cNvPr id="563" name="Google Shape;563;h4d99ccb46f147202_1_7"/>
          <p:cNvSpPr txBox="1"/>
          <p:nvPr/>
        </p:nvSpPr>
        <p:spPr>
          <a:xfrm>
            <a:off x="10012680" y="2221992"/>
            <a:ext cx="1143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MAE $626.29</a:t>
            </a:r>
            <a:endParaRPr/>
          </a:p>
        </p:txBody>
      </p:sp>
      <p:sp>
        <p:nvSpPr>
          <p:cNvPr id="564" name="Google Shape;564;h4d99ccb46f147202_1_7"/>
          <p:cNvSpPr txBox="1"/>
          <p:nvPr/>
        </p:nvSpPr>
        <p:spPr>
          <a:xfrm>
            <a:off x="8348472" y="2560320"/>
            <a:ext cx="16458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Top 10 + missing flags</a:t>
            </a:r>
            <a:endParaRPr/>
          </a:p>
        </p:txBody>
      </p:sp>
      <p:sp>
        <p:nvSpPr>
          <p:cNvPr id="565" name="Google Shape;565;h4d99ccb46f147202_1_7"/>
          <p:cNvSpPr txBox="1"/>
          <p:nvPr/>
        </p:nvSpPr>
        <p:spPr>
          <a:xfrm>
            <a:off x="10012680" y="2560320"/>
            <a:ext cx="1143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MAE $581.39</a:t>
            </a:r>
            <a:endParaRPr/>
          </a:p>
        </p:txBody>
      </p:sp>
      <p:sp>
        <p:nvSpPr>
          <p:cNvPr id="566" name="Google Shape;566;h4d99ccb46f147202_1_7"/>
          <p:cNvSpPr txBox="1"/>
          <p:nvPr/>
        </p:nvSpPr>
        <p:spPr>
          <a:xfrm>
            <a:off x="8348472" y="2926080"/>
            <a:ext cx="26061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→ Keep 7 related missing flags</a:t>
            </a:r>
            <a:endParaRPr/>
          </a:p>
        </p:txBody>
      </p:sp>
      <p:sp>
        <p:nvSpPr>
          <p:cNvPr id="567" name="Google Shape;567;h4d99ccb46f147202_1_7"/>
          <p:cNvSpPr txBox="1"/>
          <p:nvPr/>
        </p:nvSpPr>
        <p:spPr>
          <a:xfrm>
            <a:off x="8348472" y="3456432"/>
            <a:ext cx="2560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Country sensitivity check</a:t>
            </a:r>
            <a:endParaRPr/>
          </a:p>
        </p:txBody>
      </p:sp>
      <p:sp>
        <p:nvSpPr>
          <p:cNvPr id="568" name="Google Shape;568;h4d99ccb46f147202_1_7"/>
          <p:cNvSpPr txBox="1"/>
          <p:nvPr/>
        </p:nvSpPr>
        <p:spPr>
          <a:xfrm>
            <a:off x="8348472" y="3803904"/>
            <a:ext cx="25602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Compare the same selected predictors:</a:t>
            </a:r>
            <a:endParaRPr/>
          </a:p>
        </p:txBody>
      </p:sp>
      <p:sp>
        <p:nvSpPr>
          <p:cNvPr id="569" name="Google Shape;569;h4d99ccb46f147202_1_7"/>
          <p:cNvSpPr txBox="1"/>
          <p:nvPr/>
        </p:nvSpPr>
        <p:spPr>
          <a:xfrm>
            <a:off x="8412480" y="4160520"/>
            <a:ext cx="24690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5C43BE"/>
                </a:solidFill>
                <a:latin typeface="Calibri"/>
                <a:ea typeface="Calibri"/>
                <a:cs typeface="Calibri"/>
                <a:sym typeface="Calibri"/>
              </a:rPr>
              <a:t>WITHOUT Country  ↔  WITH Country</a:t>
            </a:r>
            <a:endParaRPr/>
          </a:p>
        </p:txBody>
      </p:sp>
      <p:sp>
        <p:nvSpPr>
          <p:cNvPr id="570" name="Google Shape;570;h4d99ccb46f147202_1_7"/>
          <p:cNvSpPr txBox="1"/>
          <p:nvPr/>
        </p:nvSpPr>
        <p:spPr>
          <a:xfrm>
            <a:off x="8348472" y="4535424"/>
            <a:ext cx="2560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Country tested separately from the</a:t>
            </a:r>
            <a:br>
              <a:rPr lang="en-US" sz="85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50" b="0" i="0" u="none" strike="noStrike" cap="none">
                <a:solidFill>
                  <a:srgbClr val="646C78"/>
                </a:solidFill>
                <a:latin typeface="Calibri"/>
                <a:ea typeface="Calibri"/>
                <a:cs typeface="Calibri"/>
                <a:sym typeface="Calibri"/>
              </a:rPr>
              <a:t>permutation ranking.</a:t>
            </a:r>
            <a:endParaRPr/>
          </a:p>
        </p:txBody>
      </p:sp>
      <p:sp>
        <p:nvSpPr>
          <p:cNvPr id="571" name="Google Shape;571;h4d99ccb46f147202_1_7"/>
          <p:cNvSpPr/>
          <p:nvPr/>
        </p:nvSpPr>
        <p:spPr>
          <a:xfrm>
            <a:off x="8339327" y="5148072"/>
            <a:ext cx="2670000" cy="438900"/>
          </a:xfrm>
          <a:prstGeom prst="roundRect">
            <a:avLst>
              <a:gd name="adj" fmla="val 16667"/>
            </a:avLst>
          </a:prstGeom>
          <a:solidFill>
            <a:srgbClr val="EBF7EF"/>
          </a:solidFill>
          <a:ln w="9525" cap="flat" cmpd="sng">
            <a:solidFill>
              <a:srgbClr val="DEE3E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h4d99ccb46f147202_1_7"/>
          <p:cNvSpPr txBox="1"/>
          <p:nvPr/>
        </p:nvSpPr>
        <p:spPr>
          <a:xfrm>
            <a:off x="8458200" y="5276088"/>
            <a:ext cx="2423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6824D"/>
                </a:solidFill>
                <a:latin typeface="Calibri"/>
                <a:ea typeface="Calibri"/>
                <a:cs typeface="Calibri"/>
                <a:sym typeface="Calibri"/>
              </a:rPr>
              <a:t>Final numeric inputs: 10 + 7 flags = 17</a:t>
            </a:r>
            <a:endParaRPr/>
          </a:p>
        </p:txBody>
      </p:sp>
      <p:sp>
        <p:nvSpPr>
          <p:cNvPr id="573" name="Google Shape;573;h4d99ccb46f147202_1_7"/>
          <p:cNvSpPr/>
          <p:nvPr/>
        </p:nvSpPr>
        <p:spPr>
          <a:xfrm>
            <a:off x="822960" y="6245352"/>
            <a:ext cx="10561200" cy="4389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DD9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h4d99ccb46f147202_1_7"/>
          <p:cNvSpPr txBox="1"/>
          <p:nvPr/>
        </p:nvSpPr>
        <p:spPr>
          <a:xfrm>
            <a:off x="1005840" y="6373368"/>
            <a:ext cx="10195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1" i="0" u="none" strike="noStrike" cap="none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Result: Top 10 predictors had the lowest 5-fold average MAE; adding missing indicators improved performance further.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63a7b705bf8cfe3c_0_518"/>
          <p:cNvSpPr txBox="1"/>
          <p:nvPr/>
        </p:nvSpPr>
        <p:spPr>
          <a:xfrm>
            <a:off x="566928" y="274320"/>
            <a:ext cx="10972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142646"/>
                </a:solidFill>
                <a:latin typeface="Calibri"/>
                <a:ea typeface="Calibri"/>
                <a:cs typeface="Calibri"/>
                <a:sym typeface="Calibri"/>
              </a:rPr>
              <a:t>Appendix 2. </a:t>
            </a:r>
            <a:r>
              <a:rPr lang="en-US" sz="25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What Drives Next-Year GDP Predictions?</a:t>
            </a:r>
            <a:endParaRPr/>
          </a:p>
        </p:txBody>
      </p:sp>
      <p:sp>
        <p:nvSpPr>
          <p:cNvPr id="580" name="Google Shape;580;h63a7b705bf8cfe3c_0_518"/>
          <p:cNvSpPr txBox="1"/>
          <p:nvPr/>
        </p:nvSpPr>
        <p:spPr>
          <a:xfrm>
            <a:off x="594360" y="786384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Interpreting feature contributions — not just model accuracy</a:t>
            </a:r>
            <a:endParaRPr/>
          </a:p>
        </p:txBody>
      </p:sp>
      <p:sp>
        <p:nvSpPr>
          <p:cNvPr id="581" name="Google Shape;581;h63a7b705bf8cfe3c_0_518"/>
          <p:cNvSpPr/>
          <p:nvPr/>
        </p:nvSpPr>
        <p:spPr>
          <a:xfrm>
            <a:off x="594360" y="1234440"/>
            <a:ext cx="5532000" cy="4709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h63a7b705bf8cfe3c_0_518"/>
          <p:cNvSpPr txBox="1"/>
          <p:nvPr/>
        </p:nvSpPr>
        <p:spPr>
          <a:xfrm>
            <a:off x="868680" y="1517904"/>
            <a:ext cx="3291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Permutation Importance Ranking</a:t>
            </a:r>
            <a:endParaRPr/>
          </a:p>
        </p:txBody>
      </p:sp>
      <p:sp>
        <p:nvSpPr>
          <p:cNvPr id="583" name="Google Shape;583;h63a7b705bf8cfe3c_0_518"/>
          <p:cNvSpPr txBox="1"/>
          <p:nvPr/>
        </p:nvSpPr>
        <p:spPr>
          <a:xfrm>
            <a:off x="868680" y="1865376"/>
            <a:ext cx="3474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F6974"/>
                </a:solidFill>
                <a:latin typeface="Calibri"/>
                <a:ea typeface="Calibri"/>
                <a:cs typeface="Calibri"/>
                <a:sym typeface="Calibri"/>
              </a:rPr>
              <a:t>Increase in MAE when each feature is shuffled</a:t>
            </a:r>
            <a:endParaRPr/>
          </a:p>
        </p:txBody>
      </p:sp>
      <p:sp>
        <p:nvSpPr>
          <p:cNvPr id="584" name="Google Shape;584;h63a7b705bf8cfe3c_0_518"/>
          <p:cNvSpPr txBox="1"/>
          <p:nvPr/>
        </p:nvSpPr>
        <p:spPr>
          <a:xfrm>
            <a:off x="868680" y="2267712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1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1. Current GDP per capita</a:t>
            </a:r>
            <a:endParaRPr/>
          </a:p>
        </p:txBody>
      </p:sp>
      <p:sp>
        <p:nvSpPr>
          <p:cNvPr id="585" name="Google Shape;585;h63a7b705bf8cfe3c_0_518"/>
          <p:cNvSpPr/>
          <p:nvPr/>
        </p:nvSpPr>
        <p:spPr>
          <a:xfrm>
            <a:off x="3529584" y="2276856"/>
            <a:ext cx="1691700" cy="128100"/>
          </a:xfrm>
          <a:prstGeom prst="rect">
            <a:avLst/>
          </a:prstGeom>
          <a:solidFill>
            <a:srgbClr val="6F52A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h63a7b705bf8cfe3c_0_518"/>
          <p:cNvSpPr txBox="1"/>
          <p:nvPr/>
        </p:nvSpPr>
        <p:spPr>
          <a:xfrm>
            <a:off x="5303520" y="2267712"/>
            <a:ext cx="502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24,167.8</a:t>
            </a:r>
            <a:endParaRPr/>
          </a:p>
        </p:txBody>
      </p:sp>
      <p:sp>
        <p:nvSpPr>
          <p:cNvPr id="587" name="Google Shape;587;h63a7b705bf8cfe3c_0_518"/>
          <p:cNvSpPr txBox="1"/>
          <p:nvPr/>
        </p:nvSpPr>
        <p:spPr>
          <a:xfrm>
            <a:off x="868680" y="2596896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2. Inflation</a:t>
            </a:r>
            <a:endParaRPr/>
          </a:p>
        </p:txBody>
      </p:sp>
      <p:sp>
        <p:nvSpPr>
          <p:cNvPr id="588" name="Google Shape;588;h63a7b705bf8cfe3c_0_518"/>
          <p:cNvSpPr/>
          <p:nvPr/>
        </p:nvSpPr>
        <p:spPr>
          <a:xfrm>
            <a:off x="3529584" y="2606039"/>
            <a:ext cx="6492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h63a7b705bf8cfe3c_0_518"/>
          <p:cNvSpPr txBox="1"/>
          <p:nvPr/>
        </p:nvSpPr>
        <p:spPr>
          <a:xfrm>
            <a:off x="5303520" y="2596896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50.1</a:t>
            </a:r>
            <a:endParaRPr/>
          </a:p>
        </p:txBody>
      </p:sp>
      <p:sp>
        <p:nvSpPr>
          <p:cNvPr id="590" name="Google Shape;590;h63a7b705bf8cfe3c_0_518"/>
          <p:cNvSpPr txBox="1"/>
          <p:nvPr/>
        </p:nvSpPr>
        <p:spPr>
          <a:xfrm>
            <a:off x="868680" y="2926079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3. Electric power consumption</a:t>
            </a:r>
            <a:endParaRPr/>
          </a:p>
        </p:txBody>
      </p:sp>
      <p:sp>
        <p:nvSpPr>
          <p:cNvPr id="591" name="Google Shape;591;h63a7b705bf8cfe3c_0_518"/>
          <p:cNvSpPr/>
          <p:nvPr/>
        </p:nvSpPr>
        <p:spPr>
          <a:xfrm>
            <a:off x="3529584" y="2935223"/>
            <a:ext cx="3300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h63a7b705bf8cfe3c_0_518"/>
          <p:cNvSpPr txBox="1"/>
          <p:nvPr/>
        </p:nvSpPr>
        <p:spPr>
          <a:xfrm>
            <a:off x="5303520" y="2926079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18.3</a:t>
            </a:r>
            <a:endParaRPr/>
          </a:p>
        </p:txBody>
      </p:sp>
      <p:sp>
        <p:nvSpPr>
          <p:cNvPr id="593" name="Google Shape;593;h63a7b705bf8cfe3c_0_518"/>
          <p:cNvSpPr txBox="1"/>
          <p:nvPr/>
        </p:nvSpPr>
        <p:spPr>
          <a:xfrm>
            <a:off x="868680" y="3255263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4. Energy use per capita</a:t>
            </a:r>
            <a:endParaRPr/>
          </a:p>
        </p:txBody>
      </p:sp>
      <p:sp>
        <p:nvSpPr>
          <p:cNvPr id="594" name="Google Shape;594;h63a7b705bf8cfe3c_0_518"/>
          <p:cNvSpPr/>
          <p:nvPr/>
        </p:nvSpPr>
        <p:spPr>
          <a:xfrm>
            <a:off x="3529584" y="3264407"/>
            <a:ext cx="3201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h63a7b705bf8cfe3c_0_518"/>
          <p:cNvSpPr txBox="1"/>
          <p:nvPr/>
        </p:nvSpPr>
        <p:spPr>
          <a:xfrm>
            <a:off x="5303520" y="3255263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17.3</a:t>
            </a:r>
            <a:endParaRPr/>
          </a:p>
        </p:txBody>
      </p:sp>
      <p:sp>
        <p:nvSpPr>
          <p:cNvPr id="596" name="Google Shape;596;h63a7b705bf8cfe3c_0_518"/>
          <p:cNvSpPr txBox="1"/>
          <p:nvPr/>
        </p:nvSpPr>
        <p:spPr>
          <a:xfrm>
            <a:off x="868680" y="3584447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5. CO₂ emissions per capita</a:t>
            </a:r>
            <a:endParaRPr/>
          </a:p>
        </p:txBody>
      </p:sp>
      <p:sp>
        <p:nvSpPr>
          <p:cNvPr id="597" name="Google Shape;597;h63a7b705bf8cfe3c_0_518"/>
          <p:cNvSpPr/>
          <p:nvPr/>
        </p:nvSpPr>
        <p:spPr>
          <a:xfrm>
            <a:off x="3529584" y="3593591"/>
            <a:ext cx="3159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h63a7b705bf8cfe3c_0_518"/>
          <p:cNvSpPr txBox="1"/>
          <p:nvPr/>
        </p:nvSpPr>
        <p:spPr>
          <a:xfrm>
            <a:off x="5303520" y="3584447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16.9</a:t>
            </a:r>
            <a:endParaRPr/>
          </a:p>
        </p:txBody>
      </p:sp>
      <p:sp>
        <p:nvSpPr>
          <p:cNvPr id="599" name="Google Shape;599;h63a7b705bf8cfe3c_0_518"/>
          <p:cNvSpPr txBox="1"/>
          <p:nvPr/>
        </p:nvSpPr>
        <p:spPr>
          <a:xfrm>
            <a:off x="868680" y="3913631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6. Urban population</a:t>
            </a:r>
            <a:endParaRPr/>
          </a:p>
        </p:txBody>
      </p:sp>
      <p:sp>
        <p:nvSpPr>
          <p:cNvPr id="600" name="Google Shape;600;h63a7b705bf8cfe3c_0_518"/>
          <p:cNvSpPr/>
          <p:nvPr/>
        </p:nvSpPr>
        <p:spPr>
          <a:xfrm>
            <a:off x="3529584" y="3922775"/>
            <a:ext cx="2868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h63a7b705bf8cfe3c_0_518"/>
          <p:cNvSpPr txBox="1"/>
          <p:nvPr/>
        </p:nvSpPr>
        <p:spPr>
          <a:xfrm>
            <a:off x="5303520" y="3913631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14.0</a:t>
            </a:r>
            <a:endParaRPr/>
          </a:p>
        </p:txBody>
      </p:sp>
      <p:sp>
        <p:nvSpPr>
          <p:cNvPr id="602" name="Google Shape;602;h63a7b705bf8cfe3c_0_518"/>
          <p:cNvSpPr txBox="1"/>
          <p:nvPr/>
        </p:nvSpPr>
        <p:spPr>
          <a:xfrm>
            <a:off x="868680" y="4242816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7. GDP per capita growth</a:t>
            </a:r>
            <a:endParaRPr/>
          </a:p>
        </p:txBody>
      </p:sp>
      <p:sp>
        <p:nvSpPr>
          <p:cNvPr id="603" name="Google Shape;603;h63a7b705bf8cfe3c_0_518"/>
          <p:cNvSpPr/>
          <p:nvPr/>
        </p:nvSpPr>
        <p:spPr>
          <a:xfrm>
            <a:off x="3529584" y="4251959"/>
            <a:ext cx="2637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h63a7b705bf8cfe3c_0_518"/>
          <p:cNvSpPr txBox="1"/>
          <p:nvPr/>
        </p:nvSpPr>
        <p:spPr>
          <a:xfrm>
            <a:off x="5303520" y="4242816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/>
          </a:p>
        </p:txBody>
      </p:sp>
      <p:sp>
        <p:nvSpPr>
          <p:cNvPr id="605" name="Google Shape;605;h63a7b705bf8cfe3c_0_518"/>
          <p:cNvSpPr txBox="1"/>
          <p:nvPr/>
        </p:nvSpPr>
        <p:spPr>
          <a:xfrm>
            <a:off x="868680" y="4572000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8. Renewable energy consumption</a:t>
            </a:r>
            <a:endParaRPr/>
          </a:p>
        </p:txBody>
      </p:sp>
      <p:sp>
        <p:nvSpPr>
          <p:cNvPr id="606" name="Google Shape;606;h63a7b705bf8cfe3c_0_518"/>
          <p:cNvSpPr/>
          <p:nvPr/>
        </p:nvSpPr>
        <p:spPr>
          <a:xfrm>
            <a:off x="3529584" y="4581144"/>
            <a:ext cx="2388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h63a7b705bf8cfe3c_0_518"/>
          <p:cNvSpPr txBox="1"/>
          <p:nvPr/>
        </p:nvSpPr>
        <p:spPr>
          <a:xfrm>
            <a:off x="5303520" y="4572000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9.2</a:t>
            </a:r>
            <a:endParaRPr/>
          </a:p>
        </p:txBody>
      </p:sp>
      <p:sp>
        <p:nvSpPr>
          <p:cNvPr id="608" name="Google Shape;608;h63a7b705bf8cfe3c_0_518"/>
          <p:cNvSpPr txBox="1"/>
          <p:nvPr/>
        </p:nvSpPr>
        <p:spPr>
          <a:xfrm>
            <a:off x="868680" y="4901184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9. Internet use</a:t>
            </a:r>
            <a:endParaRPr/>
          </a:p>
        </p:txBody>
      </p:sp>
      <p:sp>
        <p:nvSpPr>
          <p:cNvPr id="609" name="Google Shape;609;h63a7b705bf8cfe3c_0_518"/>
          <p:cNvSpPr/>
          <p:nvPr/>
        </p:nvSpPr>
        <p:spPr>
          <a:xfrm>
            <a:off x="3529584" y="4910328"/>
            <a:ext cx="2196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h63a7b705bf8cfe3c_0_518"/>
          <p:cNvSpPr txBox="1"/>
          <p:nvPr/>
        </p:nvSpPr>
        <p:spPr>
          <a:xfrm>
            <a:off x="5303520" y="4901184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/>
          </a:p>
        </p:txBody>
      </p:sp>
      <p:sp>
        <p:nvSpPr>
          <p:cNvPr id="611" name="Google Shape;611;h63a7b705bf8cfe3c_0_518"/>
          <p:cNvSpPr txBox="1"/>
          <p:nvPr/>
        </p:nvSpPr>
        <p:spPr>
          <a:xfrm>
            <a:off x="868680" y="5230368"/>
            <a:ext cx="26061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10. Energy intensity</a:t>
            </a:r>
            <a:endParaRPr/>
          </a:p>
        </p:txBody>
      </p:sp>
      <p:sp>
        <p:nvSpPr>
          <p:cNvPr id="612" name="Google Shape;612;h63a7b705bf8cfe3c_0_518"/>
          <p:cNvSpPr/>
          <p:nvPr/>
        </p:nvSpPr>
        <p:spPr>
          <a:xfrm>
            <a:off x="3529584" y="5239512"/>
            <a:ext cx="216600" cy="128100"/>
          </a:xfrm>
          <a:prstGeom prst="rect">
            <a:avLst/>
          </a:prstGeom>
          <a:solidFill>
            <a:srgbClr val="2A6FDB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h63a7b705bf8cfe3c_0_518"/>
          <p:cNvSpPr txBox="1"/>
          <p:nvPr/>
        </p:nvSpPr>
        <p:spPr>
          <a:xfrm>
            <a:off x="5303520" y="5230368"/>
            <a:ext cx="502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7.0</a:t>
            </a:r>
            <a:endParaRPr/>
          </a:p>
        </p:txBody>
      </p:sp>
      <p:sp>
        <p:nvSpPr>
          <p:cNvPr id="614" name="Google Shape;614;h63a7b705bf8cfe3c_0_518"/>
          <p:cNvSpPr/>
          <p:nvPr/>
        </p:nvSpPr>
        <p:spPr>
          <a:xfrm>
            <a:off x="6400680" y="1249476"/>
            <a:ext cx="5212200" cy="47091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DCE2E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h63a7b705bf8cfe3c_0_518"/>
          <p:cNvSpPr txBox="1"/>
          <p:nvPr/>
        </p:nvSpPr>
        <p:spPr>
          <a:xfrm>
            <a:off x="6629400" y="1517904"/>
            <a:ext cx="438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What does this tell us?</a:t>
            </a:r>
            <a:endParaRPr/>
          </a:p>
        </p:txBody>
      </p:sp>
      <p:sp>
        <p:nvSpPr>
          <p:cNvPr id="616" name="Google Shape;616;h63a7b705bf8cfe3c_0_518"/>
          <p:cNvSpPr/>
          <p:nvPr/>
        </p:nvSpPr>
        <p:spPr>
          <a:xfrm>
            <a:off x="6629400" y="1965960"/>
            <a:ext cx="4617600" cy="841200"/>
          </a:xfrm>
          <a:prstGeom prst="roundRect">
            <a:avLst>
              <a:gd name="adj" fmla="val 16667"/>
            </a:avLst>
          </a:prstGeom>
          <a:solidFill>
            <a:srgbClr val="F7F3FB"/>
          </a:solidFill>
          <a:ln w="9525" cap="flat" cmpd="sng">
            <a:solidFill>
              <a:srgbClr val="DED3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h63a7b705bf8cfe3c_0_518"/>
          <p:cNvSpPr txBox="1"/>
          <p:nvPr/>
        </p:nvSpPr>
        <p:spPr>
          <a:xfrm>
            <a:off x="6839712" y="2139696"/>
            <a:ext cx="41604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6F52A8"/>
                </a:solidFill>
                <a:latin typeface="Calibri"/>
                <a:ea typeface="Calibri"/>
                <a:cs typeface="Calibri"/>
                <a:sym typeface="Calibri"/>
              </a:rPr>
              <a:t>1  GDP persistence dominates</a:t>
            </a:r>
            <a:endParaRPr/>
          </a:p>
        </p:txBody>
      </p:sp>
      <p:sp>
        <p:nvSpPr>
          <p:cNvPr id="618" name="Google Shape;618;h63a7b705bf8cfe3c_0_518"/>
          <p:cNvSpPr txBox="1"/>
          <p:nvPr/>
        </p:nvSpPr>
        <p:spPr>
          <a:xfrm>
            <a:off x="6839712" y="2414016"/>
            <a:ext cx="40692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Current GDP carries far more predictive information than any other feature.</a:t>
            </a:r>
            <a:endParaRPr/>
          </a:p>
        </p:txBody>
      </p:sp>
      <p:sp>
        <p:nvSpPr>
          <p:cNvPr id="619" name="Google Shape;619;h63a7b705bf8cfe3c_0_518"/>
          <p:cNvSpPr/>
          <p:nvPr/>
        </p:nvSpPr>
        <p:spPr>
          <a:xfrm>
            <a:off x="6629400" y="2971800"/>
            <a:ext cx="4617600" cy="9600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h63a7b705bf8cfe3c_0_518"/>
          <p:cNvSpPr txBox="1"/>
          <p:nvPr/>
        </p:nvSpPr>
        <p:spPr>
          <a:xfrm>
            <a:off x="6839712" y="3154680"/>
            <a:ext cx="4160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A6FDB"/>
                </a:solidFill>
                <a:latin typeface="Calibri"/>
                <a:ea typeface="Calibri"/>
                <a:cs typeface="Calibri"/>
                <a:sym typeface="Calibri"/>
              </a:rPr>
              <a:t>2  Other indicators add smaller signals</a:t>
            </a:r>
            <a:endParaRPr/>
          </a:p>
        </p:txBody>
      </p:sp>
      <p:sp>
        <p:nvSpPr>
          <p:cNvPr id="621" name="Google Shape;621;h63a7b705bf8cfe3c_0_518"/>
          <p:cNvSpPr txBox="1"/>
          <p:nvPr/>
        </p:nvSpPr>
        <p:spPr>
          <a:xfrm>
            <a:off x="6839712" y="3438144"/>
            <a:ext cx="4096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Inflation, energy/electricity use, emissions, urbanization and GDP growth contribute additional information.</a:t>
            </a:r>
            <a:endParaRPr/>
          </a:p>
        </p:txBody>
      </p:sp>
      <p:sp>
        <p:nvSpPr>
          <p:cNvPr id="622" name="Google Shape;622;h63a7b705bf8cfe3c_0_518"/>
          <p:cNvSpPr/>
          <p:nvPr/>
        </p:nvSpPr>
        <p:spPr>
          <a:xfrm>
            <a:off x="6629400" y="4096512"/>
            <a:ext cx="4617600" cy="1024200"/>
          </a:xfrm>
          <a:prstGeom prst="roundRect">
            <a:avLst>
              <a:gd name="adj" fmla="val 16667"/>
            </a:avLst>
          </a:prstGeom>
          <a:solidFill>
            <a:srgbClr val="FCF6EE"/>
          </a:solidFill>
          <a:ln w="9525" cap="flat" cmpd="sng">
            <a:solidFill>
              <a:srgbClr val="EEDAC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h63a7b705bf8cfe3c_0_518"/>
          <p:cNvSpPr txBox="1"/>
          <p:nvPr/>
        </p:nvSpPr>
        <p:spPr>
          <a:xfrm>
            <a:off x="6839712" y="4288536"/>
            <a:ext cx="4160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07B39"/>
                </a:solidFill>
                <a:latin typeface="Calibri"/>
                <a:ea typeface="Calibri"/>
                <a:cs typeface="Calibri"/>
                <a:sym typeface="Calibri"/>
              </a:rPr>
              <a:t>3  Importance ≠ causal effect</a:t>
            </a:r>
            <a:endParaRPr/>
          </a:p>
        </p:txBody>
      </p:sp>
      <p:sp>
        <p:nvSpPr>
          <p:cNvPr id="624" name="Google Shape;624;h63a7b705bf8cfe3c_0_518"/>
          <p:cNvSpPr txBox="1"/>
          <p:nvPr/>
        </p:nvSpPr>
        <p:spPr>
          <a:xfrm>
            <a:off x="6839712" y="4572000"/>
            <a:ext cx="4096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9" b="0" i="0" u="none" strike="noStrike" cap="none">
                <a:solidFill>
                  <a:srgbClr val="23282F"/>
                </a:solidFill>
                <a:latin typeface="Calibri"/>
                <a:ea typeface="Calibri"/>
                <a:cs typeface="Calibri"/>
                <a:sym typeface="Calibri"/>
              </a:rPr>
              <a:t>Permutation importance tells us how useful a feature is for prediction — not whether it causes GDP to rise or fall.</a:t>
            </a:r>
            <a:endParaRPr/>
          </a:p>
        </p:txBody>
      </p:sp>
      <p:sp>
        <p:nvSpPr>
          <p:cNvPr id="625" name="Google Shape;625;h63a7b705bf8cfe3c_0_518"/>
          <p:cNvSpPr txBox="1"/>
          <p:nvPr/>
        </p:nvSpPr>
        <p:spPr>
          <a:xfrm>
            <a:off x="6629400" y="5376672"/>
            <a:ext cx="1828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Connection to benchmark</a:t>
            </a:r>
            <a:endParaRPr/>
          </a:p>
        </p:txBody>
      </p:sp>
      <p:sp>
        <p:nvSpPr>
          <p:cNvPr id="626" name="Google Shape;626;h63a7b705bf8cfe3c_0_518"/>
          <p:cNvSpPr txBox="1"/>
          <p:nvPr/>
        </p:nvSpPr>
        <p:spPr>
          <a:xfrm>
            <a:off x="8302752" y="5358384"/>
            <a:ext cx="29262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0" b="1" i="0" u="none" strike="noStrike" cap="none">
                <a:solidFill>
                  <a:srgbClr val="30875B"/>
                </a:solidFill>
                <a:latin typeface="Calibri"/>
                <a:ea typeface="Calibri"/>
                <a:cs typeface="Calibri"/>
                <a:sym typeface="Calibri"/>
              </a:rPr>
              <a:t>This dominance helps explain why the naive GDP benchmark was so difficult to beat.</a:t>
            </a:r>
            <a:endParaRPr/>
          </a:p>
        </p:txBody>
      </p:sp>
      <p:sp>
        <p:nvSpPr>
          <p:cNvPr id="627" name="Google Shape;627;h63a7b705bf8cfe3c_0_518"/>
          <p:cNvSpPr/>
          <p:nvPr/>
        </p:nvSpPr>
        <p:spPr>
          <a:xfrm>
            <a:off x="804672" y="6144768"/>
            <a:ext cx="10561200" cy="438900"/>
          </a:xfrm>
          <a:prstGeom prst="roundRect">
            <a:avLst>
              <a:gd name="adj" fmla="val 16667"/>
            </a:avLst>
          </a:prstGeom>
          <a:solidFill>
            <a:srgbClr val="EEF4FD"/>
          </a:solidFill>
          <a:ln w="9525" cap="flat" cmpd="sng">
            <a:solidFill>
              <a:srgbClr val="CFDCF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h63a7b705bf8cfe3c_0_518"/>
          <p:cNvSpPr txBox="1"/>
          <p:nvPr/>
        </p:nvSpPr>
        <p:spPr>
          <a:xfrm>
            <a:off x="987552" y="6272784"/>
            <a:ext cx="101955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" b="1" i="0" u="none" strike="noStrike" cap="none">
                <a:solidFill>
                  <a:srgbClr val="162641"/>
                </a:solidFill>
                <a:latin typeface="Calibri"/>
                <a:ea typeface="Calibri"/>
                <a:cs typeface="Calibri"/>
                <a:sym typeface="Calibri"/>
              </a:rPr>
              <a:t>Main insight: short-term GDP forecasting is driven primarily by GDP persistence; other indicators provide incremental predictive information.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1974</Words>
  <Application>Microsoft Macintosh PowerPoint</Application>
  <PresentationFormat>Widescreen</PresentationFormat>
  <Paragraphs>411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Abijeet Dhillon</cp:lastModifiedBy>
  <cp:revision>1</cp:revision>
  <dcterms:created xsi:type="dcterms:W3CDTF">2013-01-27T09:14:16Z</dcterms:created>
  <dcterms:modified xsi:type="dcterms:W3CDTF">2026-10-15T20:07:59Z</dcterms:modified>
</cp:coreProperties>
</file>